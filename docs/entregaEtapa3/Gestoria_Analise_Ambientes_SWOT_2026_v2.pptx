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90" d="100"/>
          <a:sy n="90" d="100"/>
        </p:scale>
        <p:origin x="42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Análise atualizada a partir do estado técnico do repositório em outubro de 2026.</a:t>
            </a:r>
          </a:p>
          <a:p>
            <a:r>
              <a:t>Fonte principal: C:\Users\avance desenv\.codex\.chatgpt-projects\g-p-6a9abe4b08048191b94ccff9ee289616\entrega-mentor\Análise de Ambientes (SWOT).md</a:t>
            </a:r>
          </a:p>
          <a:p>
            <a:r>
              <a:t>Referência metodológica: C:/Users/avance desenv/Downloads/05-Análise-Ambiente.pptx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ambiente interno reúne fatores controláveis ou desenvolvidos pela equipe. O ambiente externo reúne tendências, riscos e condições de mercado.</a:t>
            </a:r>
          </a:p>
          <a:p>
            <a:r>
              <a:t>O estado atual foi conferido no repositório do GestorIA em outubro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matriz mostra uma síntese. Os fatores completos aparecem nos dois slides seguintes.</a:t>
            </a:r>
          </a:p>
          <a:p>
            <a:r>
              <a:t>Fonte: C:\Users\avance desenv\.codex\.chatgpt-projects\g-p-6a9abe4b08048191b94ccff9ee289616\entrega-mentor\Análise de Ambientes (SWOT).md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Forças e fraquezas foram avaliadas com base no produto implementado e na capacidade atual da equipe.</a:t>
            </a:r>
          </a:p>
          <a:p>
            <a:r>
              <a:t>Fonte: C:\Users\avance desenv\.codex\.chatgpt-projects\g-p-6a9abe4b08048191b94ccff9ee289616\entrega-mentor\Análise de Ambientes (SWOT).md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Oportunidades e ameaças são hipóteses estratégicas e precisam de validação com pesquisa de mercado, entrevistas e testes com usuários.</a:t>
            </a:r>
          </a:p>
          <a:p>
            <a:r>
              <a:t>Os valores projetados dos planos são R$ 40,90, R$ 70,90 e R$ 230,00, ainda sujeitos a validação.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Classificação do modelo acadêmico: forças com oportunidades geram estratégias de desenvolvimento.</a:t>
            </a:r>
          </a:p>
          <a:p>
            <a:r>
              <a:t>Fonte: C:\Users\avance desenv\.codex\.chatgpt-projects\g-p-6a9abe4b08048191b94ccff9ee289616\entrega-mentor\Análise de Ambientes (SWOT).md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Classificação do modelo acadêmico: forças com ameaças geram estratégias de manutenção ou confronto.</a:t>
            </a:r>
          </a:p>
          <a:p>
            <a:r>
              <a:t>Fonte: C:\Users\avance desenv\.codex\.chatgpt-projects\g-p-6a9abe4b08048191b94ccff9ee289616\entrega-mentor\Análise de Ambientes (SWOT).md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corresponde a crescimento ou melhoria. DA corresponde a sobrevivência ou desativação de riscos críticos.</a:t>
            </a:r>
          </a:p>
          <a:p>
            <a:r>
              <a:t>Fonte: C:\Users\avance desenv\.codex\.chatgpt-projects\g-p-6a9abe4b08048191b94ccff9ee289616\entrega-mentor\Análise de Ambientes (SWOT).md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três planos comerciais projetados devem ser validados durante os pilotos: R$ 40,90, R$ 70,90 e R$ 230,00.</a:t>
            </a:r>
          </a:p>
          <a:p>
            <a:r>
              <a:t>Os indicadores combinam produto, qualidade técnica, cliente, mercado e operação.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conclusão separa capacidade de construção de validação de mercado.</a:t>
            </a:r>
          </a:p>
          <a:p>
            <a:r>
              <a:t>A SWOT deve ser revisada após novos módulos, pilotos, integrações externas, mudanças de preço ou incidentes relevantes.</a:t>
            </a:r>
          </a:p>
          <a:p>
            <a:r>
              <a:t>Fonte: C:\Users\avance desenv\.codex\.chatgpt-projects\g-p-6a9abe4b08048191b94ccff9ee289616\entrega-mentor\Análise de Ambientes (SWOT).md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E3D23EC7-F7E6-4AB2-93AC-4EBC764D1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xmlns="" id="{A45146DE-6D53-4B43-BF18-BBC3D63C5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xmlns="" id="{9561AF46-42AB-46DA-ABC0-106D9E64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9E375585-4F20-4B95-921E-3E33670B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xmlns="" id="{8C58EA23-7EA1-4F54-AD2B-B7EB46CAB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xmlns="" id="{D0E5FA2C-2CBA-418F-B53A-B9D289D41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A6EC0937-4C96-4506-8CAA-66ADEE6D2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xmlns="" id="{567E1777-0209-4CE3-8347-70FB05C9723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20FBF0D3-F41B-4E2A-B8D0-E9C4EEBF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F8DBB9C7-4FC3-4B4F-A7CF-A27CFF2DA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ver-accent">
            <a:extLst>
              <a:ext uri="{FF2B5EF4-FFF2-40B4-BE49-F238E27FC236}">
                <a16:creationId xmlns:a16="http://schemas.microsoft.com/office/drawing/2014/main" xmlns="" id="{C203F986-8E67-427A-8DB4-532182960841}"/>
              </a:ext>
            </a:extLst>
          </p:cNvPr>
          <p:cNvSpPr>
            <a:spLocks noGrp="1"/>
          </p:cNvSpPr>
          <p:nvPr/>
        </p:nvSpPr>
        <p:spPr>
          <a:xfrm>
            <a:off x="704850" y="800100"/>
            <a:ext cx="76200" cy="4857750"/>
          </a:xfrm>
          <a:prstGeom prst="roundRect">
            <a:avLst>
              <a:gd name="adj" fmla="val 50000"/>
            </a:avLst>
          </a:prstGeom>
          <a:solidFill>
            <a:srgbClr val="25BED1"/>
          </a:solidFill>
          <a:ln w="0">
            <a:noFill/>
            <a:prstDash val="solid"/>
          </a:ln>
        </p:spPr>
      </p:sp>
      <p:sp>
        <p:nvSpPr>
          <p:cNvPr id="2" name="cover-eyebrow">
            <a:extLst>
              <a:ext uri="{FF2B5EF4-FFF2-40B4-BE49-F238E27FC236}">
                <a16:creationId xmlns:a16="http://schemas.microsoft.com/office/drawing/2014/main" xmlns="" id="{C5B1F418-94E8-4C85-8291-EF54C266583F}"/>
              </a:ext>
            </a:extLst>
          </p:cNvPr>
          <p:cNvSpPr>
            <a:spLocks noGrp="1"/>
          </p:cNvSpPr>
          <p:nvPr/>
        </p:nvSpPr>
        <p:spPr>
          <a:xfrm>
            <a:off x="1066800" y="8763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GESTORIA  ·  ENTREGA ACADÊMICA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xmlns="" id="{67B3FA01-C729-436A-A2C7-795ED8C6D0E2}"/>
              </a:ext>
            </a:extLst>
          </p:cNvPr>
          <p:cNvSpPr>
            <a:spLocks noGrp="1"/>
          </p:cNvSpPr>
          <p:nvPr/>
        </p:nvSpPr>
        <p:spPr>
          <a:xfrm>
            <a:off x="1028700" y="1485900"/>
            <a:ext cx="657225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88000"/>
              </a:lnSpc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Análise de</a:t>
            </a:r>
          </a:p>
          <a:p>
            <a:pPr algn="l">
              <a:lnSpc>
                <a:spcPct val="88000"/>
              </a:lnSpc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Ambientes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xmlns="" id="{A4153C1E-C7E3-4187-A5EB-4FEF6832A9C5}"/>
              </a:ext>
            </a:extLst>
          </p:cNvPr>
          <p:cNvSpPr>
            <a:spLocks noGrp="1"/>
          </p:cNvSpPr>
          <p:nvPr/>
        </p:nvSpPr>
        <p:spPr>
          <a:xfrm>
            <a:off x="952464" y="3000372"/>
            <a:ext cx="6000792" cy="4286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5000"/>
              </a:lnSpc>
              <a:buNone/>
              <a:defRPr sz="1950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CFD9E9"/>
                </a:solidFill>
                <a:latin typeface="Calibri"/>
                <a:ea typeface="Calibri"/>
                <a:cs typeface="Calibri"/>
              </a:rPr>
              <a:t>Matriz SWOT e estratégias para a evolução do GestorIA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562C8044-ACB3-4A48-8FF3-295B09AFF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12" y="4286256"/>
            <a:ext cx="3143250" cy="1769848"/>
          </a:xfrm>
          <a:prstGeom prst="rect">
            <a:avLst/>
          </a:prstGeom>
        </p:spPr>
      </p:pic>
      <p:sp>
        <p:nvSpPr>
          <p:cNvPr id="7" name="cover-rule">
            <a:extLst>
              <a:ext uri="{FF2B5EF4-FFF2-40B4-BE49-F238E27FC236}">
                <a16:creationId xmlns:a16="http://schemas.microsoft.com/office/drawing/2014/main" xmlns="" id="{CBEE706B-3C07-4E36-A9D2-59522A4FCB00}"/>
              </a:ext>
            </a:extLst>
          </p:cNvPr>
          <p:cNvSpPr>
            <a:spLocks noGrp="1"/>
          </p:cNvSpPr>
          <p:nvPr/>
        </p:nvSpPr>
        <p:spPr>
          <a:xfrm>
            <a:off x="1066800" y="5962650"/>
            <a:ext cx="100584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 w="0">
            <a:noFill/>
            <a:prstDash val="solid"/>
          </a:ln>
        </p:spPr>
      </p:sp>
      <p:sp>
        <p:nvSpPr>
          <p:cNvPr id="8" name="cover-footer">
            <a:extLst>
              <a:ext uri="{FF2B5EF4-FFF2-40B4-BE49-F238E27FC236}">
                <a16:creationId xmlns:a16="http://schemas.microsoft.com/office/drawing/2014/main" xmlns="" id="{74BC48B4-5BD0-4F3D-B5B5-9159904AF2ED}"/>
              </a:ext>
            </a:extLst>
          </p:cNvPr>
          <p:cNvSpPr>
            <a:spLocks noGrp="1"/>
          </p:cNvSpPr>
          <p:nvPr/>
        </p:nvSpPr>
        <p:spPr>
          <a:xfrm>
            <a:off x="1066800" y="61531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FA2BC"/>
                </a:solidFill>
                <a:latin typeface="Calibri"/>
                <a:ea typeface="Calibri"/>
                <a:cs typeface="Calibri"/>
              </a:rPr>
              <a:t>Forças  ·  Fraquezas  ·  Oportunidades  ·  Ameaças</a:t>
            </a:r>
          </a:p>
        </p:txBody>
      </p:sp>
    </p:spTree>
    <p:extLst>
      <p:ext uri="{BB962C8B-B14F-4D97-AF65-F5344CB8AC3E}">
        <p14:creationId xmlns:p14="http://schemas.microsoft.com/office/powerpoint/2010/main" xmlns="" val="113153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étodo-eyebrow">
            <a:extLst>
              <a:ext uri="{FF2B5EF4-FFF2-40B4-BE49-F238E27FC236}">
                <a16:creationId xmlns:a16="http://schemas.microsoft.com/office/drawing/2014/main" xmlns="" id="{C4A68389-61B5-4C75-BEC2-DFAC9E93BF1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MÉTODO</a:t>
            </a:r>
          </a:p>
        </p:txBody>
      </p:sp>
      <p:sp>
        <p:nvSpPr>
          <p:cNvPr id="2" name="método-title">
            <a:extLst>
              <a:ext uri="{FF2B5EF4-FFF2-40B4-BE49-F238E27FC236}">
                <a16:creationId xmlns:a16="http://schemas.microsoft.com/office/drawing/2014/main" xmlns="" id="{E7D67447-8E73-4374-AA78-3F9FA7346B5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Método e recorte da análise</a:t>
            </a:r>
          </a:p>
        </p:txBody>
      </p:sp>
      <p:sp>
        <p:nvSpPr>
          <p:cNvPr id="3" name="método-subtitle">
            <a:extLst>
              <a:ext uri="{FF2B5EF4-FFF2-40B4-BE49-F238E27FC236}">
                <a16:creationId xmlns:a16="http://schemas.microsoft.com/office/drawing/2014/main" xmlns="" id="{849919F5-3732-45C3-A057-7A409036A6F2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A SWOT combina evidências internas do produto com hipóteses externas que ainda exigem validação.</a:t>
            </a:r>
          </a:p>
        </p:txBody>
      </p:sp>
      <p:sp>
        <p:nvSpPr>
          <p:cNvPr id="4" name="method-internal-title">
            <a:extLst>
              <a:ext uri="{FF2B5EF4-FFF2-40B4-BE49-F238E27FC236}">
                <a16:creationId xmlns:a16="http://schemas.microsoft.com/office/drawing/2014/main" xmlns="" id="{0527BEEC-D063-4152-87E3-46F10523F06B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Ambiente interno</a:t>
            </a:r>
          </a:p>
        </p:txBody>
      </p:sp>
      <p:sp>
        <p:nvSpPr>
          <p:cNvPr id="5" name="method-internal-body">
            <a:extLst>
              <a:ext uri="{FF2B5EF4-FFF2-40B4-BE49-F238E27FC236}">
                <a16:creationId xmlns:a16="http://schemas.microsoft.com/office/drawing/2014/main" xmlns="" id="{1CCC04A5-1DCB-4964-8612-1994B8E656E5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4476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Fatores sob influência direta da equipe. A análise observa arquitetura, segurança, funcionalidades, capacidade de execução e maturidade do produto.</a:t>
            </a:r>
          </a:p>
        </p:txBody>
      </p:sp>
      <p:sp>
        <p:nvSpPr>
          <p:cNvPr id="6" name="method-internal-tags">
            <a:extLst>
              <a:ext uri="{FF2B5EF4-FFF2-40B4-BE49-F238E27FC236}">
                <a16:creationId xmlns:a16="http://schemas.microsoft.com/office/drawing/2014/main" xmlns="" id="{501C63DF-2CB2-4481-91B3-3E143B0D255E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FORÇAS     FRAQUEZAS</a:t>
            </a:r>
          </a:p>
        </p:txBody>
      </p:sp>
      <p:sp>
        <p:nvSpPr>
          <p:cNvPr id="7" name="method-divider">
            <a:extLst>
              <a:ext uri="{FF2B5EF4-FFF2-40B4-BE49-F238E27FC236}">
                <a16:creationId xmlns:a16="http://schemas.microsoft.com/office/drawing/2014/main" xmlns="" id="{EC2E6433-28CA-46B8-939F-161AFD290665}"/>
              </a:ext>
            </a:extLst>
          </p:cNvPr>
          <p:cNvSpPr>
            <a:spLocks noGrp="1"/>
          </p:cNvSpPr>
          <p:nvPr/>
        </p:nvSpPr>
        <p:spPr>
          <a:xfrm>
            <a:off x="5905500" y="1924050"/>
            <a:ext cx="19050" cy="3429000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8" name="method-external-title">
            <a:extLst>
              <a:ext uri="{FF2B5EF4-FFF2-40B4-BE49-F238E27FC236}">
                <a16:creationId xmlns:a16="http://schemas.microsoft.com/office/drawing/2014/main" xmlns="" id="{4087E0FB-AD52-49BA-B222-0C9D9D20A33E}"/>
              </a:ext>
            </a:extLst>
          </p:cNvPr>
          <p:cNvSpPr>
            <a:spLocks noGrp="1"/>
          </p:cNvSpPr>
          <p:nvPr/>
        </p:nvSpPr>
        <p:spPr>
          <a:xfrm>
            <a:off x="6610350" y="1952625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Ambiente externo</a:t>
            </a:r>
          </a:p>
        </p:txBody>
      </p:sp>
      <p:sp>
        <p:nvSpPr>
          <p:cNvPr id="9" name="method-external-body">
            <a:extLst>
              <a:ext uri="{FF2B5EF4-FFF2-40B4-BE49-F238E27FC236}">
                <a16:creationId xmlns:a16="http://schemas.microsoft.com/office/drawing/2014/main" xmlns="" id="{6E159249-9CB1-416A-B6B5-36952313350F}"/>
              </a:ext>
            </a:extLst>
          </p:cNvPr>
          <p:cNvSpPr>
            <a:spLocks noGrp="1"/>
          </p:cNvSpPr>
          <p:nvPr/>
        </p:nvSpPr>
        <p:spPr>
          <a:xfrm>
            <a:off x="6610350" y="2419350"/>
            <a:ext cx="46291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Fatores com pouca influência direta da equipe. A análise considera demanda, concorrência, comportamento do cliente, regulação e dependência de fornecedores.</a:t>
            </a:r>
          </a:p>
        </p:txBody>
      </p:sp>
      <p:sp>
        <p:nvSpPr>
          <p:cNvPr id="10" name="method-external-tags">
            <a:extLst>
              <a:ext uri="{FF2B5EF4-FFF2-40B4-BE49-F238E27FC236}">
                <a16:creationId xmlns:a16="http://schemas.microsoft.com/office/drawing/2014/main" xmlns="" id="{6109BA48-FA9A-41C8-87F3-5D8C7B2833F3}"/>
              </a:ext>
            </a:extLst>
          </p:cNvPr>
          <p:cNvSpPr>
            <a:spLocks noGrp="1"/>
          </p:cNvSpPr>
          <p:nvPr/>
        </p:nvSpPr>
        <p:spPr>
          <a:xfrm>
            <a:off x="6610350" y="3695700"/>
            <a:ext cx="4629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OPORTUNIDADES     AMEAÇAS</a:t>
            </a:r>
          </a:p>
        </p:txBody>
      </p:sp>
      <p:sp>
        <p:nvSpPr>
          <p:cNvPr id="11" name="method-evidence">
            <a:extLst>
              <a:ext uri="{FF2B5EF4-FFF2-40B4-BE49-F238E27FC236}">
                <a16:creationId xmlns:a16="http://schemas.microsoft.com/office/drawing/2014/main" xmlns="" id="{80674339-6838-483D-9D7B-07757BB155A9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108204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12" name="method-evidence-label">
            <a:extLst>
              <a:ext uri="{FF2B5EF4-FFF2-40B4-BE49-F238E27FC236}">
                <a16:creationId xmlns:a16="http://schemas.microsoft.com/office/drawing/2014/main" xmlns="" id="{094CE453-16E9-4FB1-9CA4-AC92AC8B1B85}"/>
              </a:ext>
            </a:extLst>
          </p:cNvPr>
          <p:cNvSpPr>
            <a:spLocks noGrp="1"/>
          </p:cNvSpPr>
          <p:nvPr/>
        </p:nvSpPr>
        <p:spPr>
          <a:xfrm>
            <a:off x="933450" y="47625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125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ESTADO VERIFICADO</a:t>
            </a:r>
          </a:p>
        </p:txBody>
      </p:sp>
      <p:sp>
        <p:nvSpPr>
          <p:cNvPr id="13" name="method-evidence-text">
            <a:extLst>
              <a:ext uri="{FF2B5EF4-FFF2-40B4-BE49-F238E27FC236}">
                <a16:creationId xmlns:a16="http://schemas.microsoft.com/office/drawing/2014/main" xmlns="" id="{ECD8577C-2D1B-4FCE-B473-5D6DBDC556B9}"/>
              </a:ext>
            </a:extLst>
          </p:cNvPr>
          <p:cNvSpPr>
            <a:spLocks noGrp="1"/>
          </p:cNvSpPr>
          <p:nvPr/>
        </p:nvSpPr>
        <p:spPr>
          <a:xfrm>
            <a:off x="933450" y="5105400"/>
            <a:ext cx="1009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7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7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7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7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7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7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7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7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7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2000"/>
              </a:lnSpc>
              <a:buNone/>
              <a:defRPr sz="157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Web, mobile, API e PostgreSQL estão integrados. Financeiro e responsividade já chegaram à linha principal. Produtos está implementado e testado na branch de desenvolvimento atual.</a:t>
            </a:r>
          </a:p>
        </p:txBody>
      </p:sp>
      <p:sp>
        <p:nvSpPr>
          <p:cNvPr id="14" name="footer-rule-2">
            <a:extLst>
              <a:ext uri="{FF2B5EF4-FFF2-40B4-BE49-F238E27FC236}">
                <a16:creationId xmlns:a16="http://schemas.microsoft.com/office/drawing/2014/main" xmlns="" id="{2CDAEAE5-06E3-4A59-AB69-C9BEB3DE818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15" name="footer-brand-2">
            <a:extLst>
              <a:ext uri="{FF2B5EF4-FFF2-40B4-BE49-F238E27FC236}">
                <a16:creationId xmlns:a16="http://schemas.microsoft.com/office/drawing/2014/main" xmlns="" id="{18233495-C8A5-49CA-823C-7A3DC9403F8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GESTORIA  ·  ANÁLISE DE AMBIENTES</a:t>
            </a:r>
          </a:p>
        </p:txBody>
      </p:sp>
      <p:sp>
        <p:nvSpPr>
          <p:cNvPr id="16" name="footer-page-2">
            <a:extLst>
              <a:ext uri="{FF2B5EF4-FFF2-40B4-BE49-F238E27FC236}">
                <a16:creationId xmlns:a16="http://schemas.microsoft.com/office/drawing/2014/main" xmlns="" id="{37F50456-6EAA-486A-9EBF-B70BB2C8C958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lnSpc>
                <a:spcPct val="100000"/>
              </a:lnSpc>
              <a:buNone/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xmlns="" val="1169867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atriz-eyebrow">
            <a:extLst>
              <a:ext uri="{FF2B5EF4-FFF2-40B4-BE49-F238E27FC236}">
                <a16:creationId xmlns:a16="http://schemas.microsoft.com/office/drawing/2014/main" xmlns="" id="{045E2F4F-48E2-4776-A7A7-83B63870E96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MATRIZ</a:t>
            </a:r>
          </a:p>
        </p:txBody>
      </p:sp>
      <p:sp>
        <p:nvSpPr>
          <p:cNvPr id="2" name="matriz-title">
            <a:extLst>
              <a:ext uri="{FF2B5EF4-FFF2-40B4-BE49-F238E27FC236}">
                <a16:creationId xmlns:a16="http://schemas.microsoft.com/office/drawing/2014/main" xmlns="" id="{49D7EDE0-5FC8-498B-BD4F-73BE75E82B43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Matriz SWOT consolidada</a:t>
            </a:r>
          </a:p>
        </p:txBody>
      </p:sp>
      <p:sp>
        <p:nvSpPr>
          <p:cNvPr id="3" name="matriz-subtitle">
            <a:extLst>
              <a:ext uri="{FF2B5EF4-FFF2-40B4-BE49-F238E27FC236}">
                <a16:creationId xmlns:a16="http://schemas.microsoft.com/office/drawing/2014/main" xmlns="" id="{CBCBD6A8-6B3F-436D-B37A-E567BE3DFF23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Os fatores mais relevantes resumem a posição atual do GestorIA.</a:t>
            </a:r>
          </a:p>
        </p:txBody>
      </p:sp>
      <p:sp>
        <p:nvSpPr>
          <p:cNvPr id="4" name="matrix-strengths-surface">
            <a:extLst>
              <a:ext uri="{FF2B5EF4-FFF2-40B4-BE49-F238E27FC236}">
                <a16:creationId xmlns:a16="http://schemas.microsoft.com/office/drawing/2014/main" xmlns="" id="{32E659AE-D018-46F7-850A-F76C8BCB0C87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5181600" cy="2000250"/>
          </a:xfrm>
          <a:prstGeom prst="roundRect">
            <a:avLst>
              <a:gd name="adj" fmla="val 5714"/>
            </a:avLst>
          </a:prstGeom>
          <a:solidFill>
            <a:srgbClr val="E8F8F1"/>
          </a:solidFill>
          <a:ln w="9525">
            <a:solidFill>
              <a:srgbClr val="20BF82">
                <a:alpha val="45000"/>
              </a:srgbClr>
            </a:solidFill>
            <a:prstDash val="solid"/>
          </a:ln>
        </p:spPr>
      </p:sp>
      <p:sp>
        <p:nvSpPr>
          <p:cNvPr id="5" name="matrix-strengths-label">
            <a:extLst>
              <a:ext uri="{FF2B5EF4-FFF2-40B4-BE49-F238E27FC236}">
                <a16:creationId xmlns:a16="http://schemas.microsoft.com/office/drawing/2014/main" xmlns="" id="{02DB8929-6ACF-4FE6-BA36-1C528E026A2C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5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F</a:t>
            </a:r>
          </a:p>
        </p:txBody>
      </p:sp>
      <p:sp>
        <p:nvSpPr>
          <p:cNvPr id="6" name="matrix-strengths-title">
            <a:extLst>
              <a:ext uri="{FF2B5EF4-FFF2-40B4-BE49-F238E27FC236}">
                <a16:creationId xmlns:a16="http://schemas.microsoft.com/office/drawing/2014/main" xmlns="" id="{4902F769-5F2C-4693-8A9B-F63264431CAB}"/>
              </a:ext>
            </a:extLst>
          </p:cNvPr>
          <p:cNvSpPr>
            <a:spLocks noGrp="1"/>
          </p:cNvSpPr>
          <p:nvPr/>
        </p:nvSpPr>
        <p:spPr>
          <a:xfrm>
            <a:off x="1428750" y="2038350"/>
            <a:ext cx="424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Forças</a:t>
            </a:r>
          </a:p>
        </p:txBody>
      </p:sp>
      <p:sp>
        <p:nvSpPr>
          <p:cNvPr id="7" name="matrix-strengths-items">
            <a:extLst>
              <a:ext uri="{FF2B5EF4-FFF2-40B4-BE49-F238E27FC236}">
                <a16:creationId xmlns:a16="http://schemas.microsoft.com/office/drawing/2014/main" xmlns="" id="{0EF93787-AA83-40C7-9254-7AE4D90FEF85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8006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Plataforma integrada</a:t>
            </a:r>
          </a:p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Arquitetura modular</a:t>
            </a:r>
          </a:p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Segurança incorporada</a:t>
            </a:r>
          </a:p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Mobile executivo funcional</a:t>
            </a:r>
          </a:p>
        </p:txBody>
      </p:sp>
      <p:sp>
        <p:nvSpPr>
          <p:cNvPr id="8" name="matrix-weaknesses-surface">
            <a:extLst>
              <a:ext uri="{FF2B5EF4-FFF2-40B4-BE49-F238E27FC236}">
                <a16:creationId xmlns:a16="http://schemas.microsoft.com/office/drawing/2014/main" xmlns="" id="{76F99541-2271-46FE-B1C5-A2F76AFF1D5F}"/>
              </a:ext>
            </a:extLst>
          </p:cNvPr>
          <p:cNvSpPr>
            <a:spLocks noGrp="1"/>
          </p:cNvSpPr>
          <p:nvPr/>
        </p:nvSpPr>
        <p:spPr>
          <a:xfrm>
            <a:off x="6096000" y="1885950"/>
            <a:ext cx="5410200" cy="2000250"/>
          </a:xfrm>
          <a:prstGeom prst="roundRect">
            <a:avLst>
              <a:gd name="adj" fmla="val 5714"/>
            </a:avLst>
          </a:prstGeom>
          <a:solidFill>
            <a:srgbClr val="FFF0F4"/>
          </a:solidFill>
          <a:ln w="9525">
            <a:solidFill>
              <a:srgbClr val="EF607A">
                <a:alpha val="45000"/>
              </a:srgbClr>
            </a:solidFill>
            <a:prstDash val="solid"/>
          </a:ln>
        </p:spPr>
      </p:sp>
      <p:sp>
        <p:nvSpPr>
          <p:cNvPr id="9" name="matrix-weaknesses-label">
            <a:extLst>
              <a:ext uri="{FF2B5EF4-FFF2-40B4-BE49-F238E27FC236}">
                <a16:creationId xmlns:a16="http://schemas.microsoft.com/office/drawing/2014/main" xmlns="" id="{4EA9D29E-207A-4B2D-986A-DBAC3725CDB7}"/>
              </a:ext>
            </a:extLst>
          </p:cNvPr>
          <p:cNvSpPr>
            <a:spLocks noGrp="1"/>
          </p:cNvSpPr>
          <p:nvPr/>
        </p:nvSpPr>
        <p:spPr>
          <a:xfrm>
            <a:off x="6286500" y="203835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5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W</a:t>
            </a:r>
          </a:p>
        </p:txBody>
      </p:sp>
      <p:sp>
        <p:nvSpPr>
          <p:cNvPr id="10" name="matrix-weaknesses-title">
            <a:extLst>
              <a:ext uri="{FF2B5EF4-FFF2-40B4-BE49-F238E27FC236}">
                <a16:creationId xmlns:a16="http://schemas.microsoft.com/office/drawing/2014/main" xmlns="" id="{6603EE48-F311-47FD-9A86-485CD8472C76}"/>
              </a:ext>
            </a:extLst>
          </p:cNvPr>
          <p:cNvSpPr>
            <a:spLocks noGrp="1"/>
          </p:cNvSpPr>
          <p:nvPr/>
        </p:nvSpPr>
        <p:spPr>
          <a:xfrm>
            <a:off x="6838950" y="20383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Fraquezas</a:t>
            </a:r>
          </a:p>
        </p:txBody>
      </p:sp>
      <p:sp>
        <p:nvSpPr>
          <p:cNvPr id="11" name="matrix-weaknesses-items">
            <a:extLst>
              <a:ext uri="{FF2B5EF4-FFF2-40B4-BE49-F238E27FC236}">
                <a16:creationId xmlns:a16="http://schemas.microsoft.com/office/drawing/2014/main" xmlns="" id="{E63EAC2F-C64C-4ACA-BC05-4A4A9E387721}"/>
              </a:ext>
            </a:extLst>
          </p:cNvPr>
          <p:cNvSpPr>
            <a:spLocks noGrp="1"/>
          </p:cNvSpPr>
          <p:nvPr/>
        </p:nvSpPr>
        <p:spPr>
          <a:xfrm>
            <a:off x="6286500" y="2457450"/>
            <a:ext cx="50292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Cobertura mobile desigual</a:t>
            </a:r>
          </a:p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Integrações externas incompletas</a:t>
            </a:r>
          </a:p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Implantação ainda técnica</a:t>
            </a:r>
          </a:p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Poucos dados de uso real</a:t>
            </a:r>
          </a:p>
        </p:txBody>
      </p:sp>
      <p:sp>
        <p:nvSpPr>
          <p:cNvPr id="12" name="matrix-opportunities-surface">
            <a:extLst>
              <a:ext uri="{FF2B5EF4-FFF2-40B4-BE49-F238E27FC236}">
                <a16:creationId xmlns:a16="http://schemas.microsoft.com/office/drawing/2014/main" xmlns="" id="{93BC9A8F-E603-41DF-BD61-50F86A942EE7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5181600" cy="2000250"/>
          </a:xfrm>
          <a:prstGeom prst="roundRect">
            <a:avLst>
              <a:gd name="adj" fmla="val 5714"/>
            </a:avLst>
          </a:prstGeom>
          <a:solidFill>
            <a:srgbClr val="EEF3FF"/>
          </a:solidFill>
          <a:ln w="9525">
            <a:solidFill>
              <a:srgbClr val="2768F4">
                <a:alpha val="45000"/>
              </a:srgbClr>
            </a:solidFill>
            <a:prstDash val="solid"/>
          </a:ln>
        </p:spPr>
      </p:sp>
      <p:sp>
        <p:nvSpPr>
          <p:cNvPr id="13" name="matrix-opportunities-label">
            <a:extLst>
              <a:ext uri="{FF2B5EF4-FFF2-40B4-BE49-F238E27FC236}">
                <a16:creationId xmlns:a16="http://schemas.microsoft.com/office/drawing/2014/main" xmlns="" id="{7A6BB08B-40A7-407C-B16D-9A7CA7A4B99D}"/>
              </a:ext>
            </a:extLst>
          </p:cNvPr>
          <p:cNvSpPr>
            <a:spLocks noGrp="1"/>
          </p:cNvSpPr>
          <p:nvPr/>
        </p:nvSpPr>
        <p:spPr>
          <a:xfrm>
            <a:off x="876300" y="42672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5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O</a:t>
            </a:r>
          </a:p>
        </p:txBody>
      </p:sp>
      <p:sp>
        <p:nvSpPr>
          <p:cNvPr id="14" name="matrix-opportunities-title">
            <a:extLst>
              <a:ext uri="{FF2B5EF4-FFF2-40B4-BE49-F238E27FC236}">
                <a16:creationId xmlns:a16="http://schemas.microsoft.com/office/drawing/2014/main" xmlns="" id="{53AA3BE1-B088-40AB-AD5C-859C2C552F9C}"/>
              </a:ext>
            </a:extLst>
          </p:cNvPr>
          <p:cNvSpPr>
            <a:spLocks noGrp="1"/>
          </p:cNvSpPr>
          <p:nvPr/>
        </p:nvSpPr>
        <p:spPr>
          <a:xfrm>
            <a:off x="1428750" y="4267200"/>
            <a:ext cx="424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Oportunidades</a:t>
            </a:r>
          </a:p>
        </p:txBody>
      </p:sp>
      <p:sp>
        <p:nvSpPr>
          <p:cNvPr id="15" name="matrix-opportunities-items">
            <a:extLst>
              <a:ext uri="{FF2B5EF4-FFF2-40B4-BE49-F238E27FC236}">
                <a16:creationId xmlns:a16="http://schemas.microsoft.com/office/drawing/2014/main" xmlns="" id="{99665456-65C8-4CE7-9E0E-06B07B99379D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48006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Gestão simples para equipes enxutas</a:t>
            </a:r>
          </a:p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Acompanhamento pelo celular</a:t>
            </a:r>
          </a:p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Modelo SaaS por planos</a:t>
            </a:r>
          </a:p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IA com ferramentas controladas</a:t>
            </a:r>
          </a:p>
        </p:txBody>
      </p:sp>
      <p:sp>
        <p:nvSpPr>
          <p:cNvPr id="16" name="matrix-threats-surface">
            <a:extLst>
              <a:ext uri="{FF2B5EF4-FFF2-40B4-BE49-F238E27FC236}">
                <a16:creationId xmlns:a16="http://schemas.microsoft.com/office/drawing/2014/main" xmlns="" id="{3CE5659A-1F96-40FA-9015-53365C7220C6}"/>
              </a:ext>
            </a:extLst>
          </p:cNvPr>
          <p:cNvSpPr>
            <a:spLocks noGrp="1"/>
          </p:cNvSpPr>
          <p:nvPr/>
        </p:nvSpPr>
        <p:spPr>
          <a:xfrm>
            <a:off x="6096000" y="4114800"/>
            <a:ext cx="5410200" cy="2000250"/>
          </a:xfrm>
          <a:prstGeom prst="roundRect">
            <a:avLst>
              <a:gd name="adj" fmla="val 5714"/>
            </a:avLst>
          </a:prstGeom>
          <a:solidFill>
            <a:srgbClr val="FFF7E8"/>
          </a:solidFill>
          <a:ln w="9525">
            <a:solidFill>
              <a:srgbClr val="F3B33D">
                <a:alpha val="45000"/>
              </a:srgbClr>
            </a:solidFill>
            <a:prstDash val="solid"/>
          </a:ln>
        </p:spPr>
      </p:sp>
      <p:sp>
        <p:nvSpPr>
          <p:cNvPr id="17" name="matrix-threats-label">
            <a:extLst>
              <a:ext uri="{FF2B5EF4-FFF2-40B4-BE49-F238E27FC236}">
                <a16:creationId xmlns:a16="http://schemas.microsoft.com/office/drawing/2014/main" xmlns="" id="{674BE3B1-D9FC-4F5E-B0C0-0B92C7643F81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5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3B33D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18" name="matrix-threats-title">
            <a:extLst>
              <a:ext uri="{FF2B5EF4-FFF2-40B4-BE49-F238E27FC236}">
                <a16:creationId xmlns:a16="http://schemas.microsoft.com/office/drawing/2014/main" xmlns="" id="{C7157F7A-C44E-4C85-AF94-BF02B33B0FD7}"/>
              </a:ext>
            </a:extLst>
          </p:cNvPr>
          <p:cNvSpPr>
            <a:spLocks noGrp="1"/>
          </p:cNvSpPr>
          <p:nvPr/>
        </p:nvSpPr>
        <p:spPr>
          <a:xfrm>
            <a:off x="6838950" y="42672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Ameaças</a:t>
            </a:r>
          </a:p>
        </p:txBody>
      </p:sp>
      <p:sp>
        <p:nvSpPr>
          <p:cNvPr id="19" name="matrix-threats-items">
            <a:extLst>
              <a:ext uri="{FF2B5EF4-FFF2-40B4-BE49-F238E27FC236}">
                <a16:creationId xmlns:a16="http://schemas.microsoft.com/office/drawing/2014/main" xmlns="" id="{4F086520-B58E-4AFD-AC8E-C4FC7FCC6371}"/>
              </a:ext>
            </a:extLst>
          </p:cNvPr>
          <p:cNvSpPr>
            <a:spLocks noGrp="1"/>
          </p:cNvSpPr>
          <p:nvPr/>
        </p:nvSpPr>
        <p:spPr>
          <a:xfrm>
            <a:off x="6286500" y="4686300"/>
            <a:ext cx="50292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Concorrência consolidada</a:t>
            </a:r>
          </a:p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Mudanças fiscais e regulatórias</a:t>
            </a:r>
          </a:p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Riscos de segurança e disponibilidade</a:t>
            </a:r>
          </a:p>
          <a:p>
            <a:pPr marL="177800" indent="-88900">
              <a:lnSpc>
                <a:spcPct val="110000"/>
              </a:lnSpc>
              <a:spcAft>
                <a:spcPts val="400"/>
              </a:spcAft>
              <a:buNone/>
              <a:defRPr sz="1275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Expansão prematura do escopo</a:t>
            </a:r>
          </a:p>
        </p:txBody>
      </p:sp>
      <p:sp>
        <p:nvSpPr>
          <p:cNvPr id="20" name="footer-rule-3">
            <a:extLst>
              <a:ext uri="{FF2B5EF4-FFF2-40B4-BE49-F238E27FC236}">
                <a16:creationId xmlns:a16="http://schemas.microsoft.com/office/drawing/2014/main" xmlns="" id="{AE823FE4-7983-4D96-A34D-CBB3506CD80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21" name="footer-brand-3">
            <a:extLst>
              <a:ext uri="{FF2B5EF4-FFF2-40B4-BE49-F238E27FC236}">
                <a16:creationId xmlns:a16="http://schemas.microsoft.com/office/drawing/2014/main" xmlns="" id="{0C3B1858-C71B-4C12-A307-00D1FF96AD5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GESTORIA  ·  ANÁLISE DE AMBIENTES</a:t>
            </a:r>
          </a:p>
        </p:txBody>
      </p:sp>
      <p:sp>
        <p:nvSpPr>
          <p:cNvPr id="22" name="footer-page-3">
            <a:extLst>
              <a:ext uri="{FF2B5EF4-FFF2-40B4-BE49-F238E27FC236}">
                <a16:creationId xmlns:a16="http://schemas.microsoft.com/office/drawing/2014/main" xmlns="" id="{6403051F-9000-49DE-9CB6-05B17431AB6C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lnSpc>
                <a:spcPct val="100000"/>
              </a:lnSpc>
              <a:buNone/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xmlns="" val="36021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interno-eyebrow">
            <a:extLst>
              <a:ext uri="{FF2B5EF4-FFF2-40B4-BE49-F238E27FC236}">
                <a16:creationId xmlns:a16="http://schemas.microsoft.com/office/drawing/2014/main" xmlns="" id="{7FDF9585-8746-44AC-A56E-B8471BA9C30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INTERNO</a:t>
            </a:r>
          </a:p>
        </p:txBody>
      </p:sp>
      <p:sp>
        <p:nvSpPr>
          <p:cNvPr id="2" name="interno-title">
            <a:extLst>
              <a:ext uri="{FF2B5EF4-FFF2-40B4-BE49-F238E27FC236}">
                <a16:creationId xmlns:a16="http://schemas.microsoft.com/office/drawing/2014/main" xmlns="" id="{1A3D8CE6-8C7B-402B-A103-2876AC1CDEC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Ambiente interno</a:t>
            </a:r>
          </a:p>
        </p:txBody>
      </p:sp>
      <p:sp>
        <p:nvSpPr>
          <p:cNvPr id="3" name="interno-subtitle">
            <a:extLst>
              <a:ext uri="{FF2B5EF4-FFF2-40B4-BE49-F238E27FC236}">
                <a16:creationId xmlns:a16="http://schemas.microsoft.com/office/drawing/2014/main" xmlns="" id="{AC2FB1AB-8DEC-4BE8-AD2F-C12F618473C1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Forças existentes e limitações que a equipe pode enfrentar diretamente.</a:t>
            </a:r>
          </a:p>
        </p:txBody>
      </p:sp>
      <p:sp>
        <p:nvSpPr>
          <p:cNvPr id="4" name="internal-strength-title">
            <a:extLst>
              <a:ext uri="{FF2B5EF4-FFF2-40B4-BE49-F238E27FC236}">
                <a16:creationId xmlns:a16="http://schemas.microsoft.com/office/drawing/2014/main" xmlns="" id="{CBF32B36-12EA-4B62-90C4-4ECB7D813D95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Forças</a:t>
            </a:r>
          </a:p>
        </p:txBody>
      </p:sp>
      <p:sp>
        <p:nvSpPr>
          <p:cNvPr id="5" name="internal-weak-title">
            <a:extLst>
              <a:ext uri="{FF2B5EF4-FFF2-40B4-BE49-F238E27FC236}">
                <a16:creationId xmlns:a16="http://schemas.microsoft.com/office/drawing/2014/main" xmlns="" id="{29311E69-93A6-4B1E-B19B-129352E2B4CD}"/>
              </a:ext>
            </a:extLst>
          </p:cNvPr>
          <p:cNvSpPr>
            <a:spLocks noGrp="1"/>
          </p:cNvSpPr>
          <p:nvPr/>
        </p:nvSpPr>
        <p:spPr>
          <a:xfrm>
            <a:off x="6229350" y="17716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Fraquezas</a:t>
            </a:r>
          </a:p>
        </p:txBody>
      </p:sp>
      <p:sp>
        <p:nvSpPr>
          <p:cNvPr id="6" name="strengths-surface">
            <a:extLst>
              <a:ext uri="{FF2B5EF4-FFF2-40B4-BE49-F238E27FC236}">
                <a16:creationId xmlns:a16="http://schemas.microsoft.com/office/drawing/2014/main" xmlns="" id="{25F25277-ABA4-4B09-A4F7-92C01385FB50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5181600" cy="392430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9525">
            <a:solidFill>
              <a:srgbClr val="20BF82">
                <a:alpha val="35000"/>
              </a:srgbClr>
            </a:solidFill>
            <a:prstDash val="solid"/>
          </a:ln>
        </p:spPr>
      </p:sp>
      <p:sp>
        <p:nvSpPr>
          <p:cNvPr id="7" name="strengths-code-0">
            <a:extLst>
              <a:ext uri="{FF2B5EF4-FFF2-40B4-BE49-F238E27FC236}">
                <a16:creationId xmlns:a16="http://schemas.microsoft.com/office/drawing/2014/main" xmlns="" id="{7A3CA572-A834-46E0-8185-75664E074C4B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F1</a:t>
            </a:r>
          </a:p>
        </p:txBody>
      </p:sp>
      <p:sp>
        <p:nvSpPr>
          <p:cNvPr id="8" name="strengths-text-0">
            <a:extLst>
              <a:ext uri="{FF2B5EF4-FFF2-40B4-BE49-F238E27FC236}">
                <a16:creationId xmlns:a16="http://schemas.microsoft.com/office/drawing/2014/main" xmlns="" id="{C24EA74B-6147-458A-A81A-F2FAEC4F9402}"/>
              </a:ext>
            </a:extLst>
          </p:cNvPr>
          <p:cNvSpPr>
            <a:spLocks noGrp="1"/>
          </p:cNvSpPr>
          <p:nvPr/>
        </p:nvSpPr>
        <p:spPr>
          <a:xfrm>
            <a:off x="1352550" y="2343150"/>
            <a:ext cx="432435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Web, mobile, API e PostgreSQL compartilham dados e regras.</a:t>
            </a:r>
          </a:p>
        </p:txBody>
      </p:sp>
      <p:sp>
        <p:nvSpPr>
          <p:cNvPr id="9" name="strengths-line-0">
            <a:extLst>
              <a:ext uri="{FF2B5EF4-FFF2-40B4-BE49-F238E27FC236}">
                <a16:creationId xmlns:a16="http://schemas.microsoft.com/office/drawing/2014/main" xmlns="" id="{452CECE7-7AAC-4051-A213-B7973617DC65}"/>
              </a:ext>
            </a:extLst>
          </p:cNvPr>
          <p:cNvSpPr>
            <a:spLocks noGrp="1"/>
          </p:cNvSpPr>
          <p:nvPr/>
        </p:nvSpPr>
        <p:spPr>
          <a:xfrm>
            <a:off x="857250" y="2901950"/>
            <a:ext cx="4838700" cy="9525"/>
          </a:xfrm>
          <a:prstGeom prst="rect">
            <a:avLst/>
          </a:prstGeom>
          <a:solidFill>
            <a:srgbClr val="20BF82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10" name="strengths-code-1">
            <a:extLst>
              <a:ext uri="{FF2B5EF4-FFF2-40B4-BE49-F238E27FC236}">
                <a16:creationId xmlns:a16="http://schemas.microsoft.com/office/drawing/2014/main" xmlns="" id="{61B89D04-6ED5-4678-B2DD-FDA8E657EB04}"/>
              </a:ext>
            </a:extLst>
          </p:cNvPr>
          <p:cNvSpPr>
            <a:spLocks noGrp="1"/>
          </p:cNvSpPr>
          <p:nvPr/>
        </p:nvSpPr>
        <p:spPr>
          <a:xfrm>
            <a:off x="857250" y="29495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F2</a:t>
            </a:r>
          </a:p>
        </p:txBody>
      </p:sp>
      <p:sp>
        <p:nvSpPr>
          <p:cNvPr id="11" name="strengths-text-1">
            <a:extLst>
              <a:ext uri="{FF2B5EF4-FFF2-40B4-BE49-F238E27FC236}">
                <a16:creationId xmlns:a16="http://schemas.microsoft.com/office/drawing/2014/main" xmlns="" id="{D5C03187-E175-4AB2-B345-5C9E99A42A7F}"/>
              </a:ext>
            </a:extLst>
          </p:cNvPr>
          <p:cNvSpPr>
            <a:spLocks noGrp="1"/>
          </p:cNvSpPr>
          <p:nvPr/>
        </p:nvSpPr>
        <p:spPr>
          <a:xfrm>
            <a:off x="1352550" y="2949575"/>
            <a:ext cx="432435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Arquitetura modular separa interface, serviços e persistência.</a:t>
            </a:r>
          </a:p>
        </p:txBody>
      </p:sp>
      <p:sp>
        <p:nvSpPr>
          <p:cNvPr id="12" name="strengths-line-1">
            <a:extLst>
              <a:ext uri="{FF2B5EF4-FFF2-40B4-BE49-F238E27FC236}">
                <a16:creationId xmlns:a16="http://schemas.microsoft.com/office/drawing/2014/main" xmlns="" id="{21C0C680-9F8D-4CEB-AD33-804E5C5DCF8C}"/>
              </a:ext>
            </a:extLst>
          </p:cNvPr>
          <p:cNvSpPr>
            <a:spLocks noGrp="1"/>
          </p:cNvSpPr>
          <p:nvPr/>
        </p:nvSpPr>
        <p:spPr>
          <a:xfrm>
            <a:off x="857250" y="3508375"/>
            <a:ext cx="4838700" cy="9525"/>
          </a:xfrm>
          <a:prstGeom prst="rect">
            <a:avLst/>
          </a:prstGeom>
          <a:solidFill>
            <a:srgbClr val="20BF82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13" name="strengths-code-2">
            <a:extLst>
              <a:ext uri="{FF2B5EF4-FFF2-40B4-BE49-F238E27FC236}">
                <a16:creationId xmlns:a16="http://schemas.microsoft.com/office/drawing/2014/main" xmlns="" id="{5B63427D-7225-4E0F-9C8B-8C0C9E471ABB}"/>
              </a:ext>
            </a:extLst>
          </p:cNvPr>
          <p:cNvSpPr>
            <a:spLocks noGrp="1"/>
          </p:cNvSpPr>
          <p:nvPr/>
        </p:nvSpPr>
        <p:spPr>
          <a:xfrm>
            <a:off x="857250" y="35560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F3</a:t>
            </a:r>
          </a:p>
        </p:txBody>
      </p:sp>
      <p:sp>
        <p:nvSpPr>
          <p:cNvPr id="14" name="strengths-text-2">
            <a:extLst>
              <a:ext uri="{FF2B5EF4-FFF2-40B4-BE49-F238E27FC236}">
                <a16:creationId xmlns:a16="http://schemas.microsoft.com/office/drawing/2014/main" xmlns="" id="{83C29D0F-58A7-4337-B6C9-137F82B76E84}"/>
              </a:ext>
            </a:extLst>
          </p:cNvPr>
          <p:cNvSpPr>
            <a:spLocks noGrp="1"/>
          </p:cNvSpPr>
          <p:nvPr/>
        </p:nvSpPr>
        <p:spPr>
          <a:xfrm>
            <a:off x="1352550" y="3556000"/>
            <a:ext cx="432435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Sessões, permissões, auditoria e isolamento por empresa.</a:t>
            </a:r>
          </a:p>
        </p:txBody>
      </p:sp>
      <p:sp>
        <p:nvSpPr>
          <p:cNvPr id="15" name="strengths-line-2">
            <a:extLst>
              <a:ext uri="{FF2B5EF4-FFF2-40B4-BE49-F238E27FC236}">
                <a16:creationId xmlns:a16="http://schemas.microsoft.com/office/drawing/2014/main" xmlns="" id="{13604D56-520C-4CE8-8B84-203B3E97F9D5}"/>
              </a:ext>
            </a:extLst>
          </p:cNvPr>
          <p:cNvSpPr>
            <a:spLocks noGrp="1"/>
          </p:cNvSpPr>
          <p:nvPr/>
        </p:nvSpPr>
        <p:spPr>
          <a:xfrm>
            <a:off x="857250" y="4114800"/>
            <a:ext cx="4838700" cy="9525"/>
          </a:xfrm>
          <a:prstGeom prst="rect">
            <a:avLst/>
          </a:prstGeom>
          <a:solidFill>
            <a:srgbClr val="20BF82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16" name="strengths-code-3">
            <a:extLst>
              <a:ext uri="{FF2B5EF4-FFF2-40B4-BE49-F238E27FC236}">
                <a16:creationId xmlns:a16="http://schemas.microsoft.com/office/drawing/2014/main" xmlns="" id="{71C1BB63-272A-4E91-A613-ABE1219B4EC2}"/>
              </a:ext>
            </a:extLst>
          </p:cNvPr>
          <p:cNvSpPr>
            <a:spLocks noGrp="1"/>
          </p:cNvSpPr>
          <p:nvPr/>
        </p:nvSpPr>
        <p:spPr>
          <a:xfrm>
            <a:off x="857250" y="416242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F4</a:t>
            </a:r>
          </a:p>
        </p:txBody>
      </p:sp>
      <p:sp>
        <p:nvSpPr>
          <p:cNvPr id="17" name="strengths-text-3">
            <a:extLst>
              <a:ext uri="{FF2B5EF4-FFF2-40B4-BE49-F238E27FC236}">
                <a16:creationId xmlns:a16="http://schemas.microsoft.com/office/drawing/2014/main" xmlns="" id="{23800A77-B196-45D7-89A7-F6C1F733E382}"/>
              </a:ext>
            </a:extLst>
          </p:cNvPr>
          <p:cNvSpPr>
            <a:spLocks noGrp="1"/>
          </p:cNvSpPr>
          <p:nvPr/>
        </p:nvSpPr>
        <p:spPr>
          <a:xfrm>
            <a:off x="1352550" y="4162425"/>
            <a:ext cx="432435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Cobertura ampla dos principais domínios de gestão.</a:t>
            </a:r>
          </a:p>
        </p:txBody>
      </p:sp>
      <p:sp>
        <p:nvSpPr>
          <p:cNvPr id="18" name="strengths-line-3">
            <a:extLst>
              <a:ext uri="{FF2B5EF4-FFF2-40B4-BE49-F238E27FC236}">
                <a16:creationId xmlns:a16="http://schemas.microsoft.com/office/drawing/2014/main" xmlns="" id="{467497A2-35EB-445A-A3EB-3533E7038838}"/>
              </a:ext>
            </a:extLst>
          </p:cNvPr>
          <p:cNvSpPr>
            <a:spLocks noGrp="1"/>
          </p:cNvSpPr>
          <p:nvPr/>
        </p:nvSpPr>
        <p:spPr>
          <a:xfrm>
            <a:off x="857250" y="4721225"/>
            <a:ext cx="4838700" cy="9525"/>
          </a:xfrm>
          <a:prstGeom prst="rect">
            <a:avLst/>
          </a:prstGeom>
          <a:solidFill>
            <a:srgbClr val="20BF82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19" name="strengths-code-4">
            <a:extLst>
              <a:ext uri="{FF2B5EF4-FFF2-40B4-BE49-F238E27FC236}">
                <a16:creationId xmlns:a16="http://schemas.microsoft.com/office/drawing/2014/main" xmlns="" id="{CBC87DB4-B5F1-4C50-A778-9BE43EEB6C5F}"/>
              </a:ext>
            </a:extLst>
          </p:cNvPr>
          <p:cNvSpPr>
            <a:spLocks noGrp="1"/>
          </p:cNvSpPr>
          <p:nvPr/>
        </p:nvSpPr>
        <p:spPr>
          <a:xfrm>
            <a:off x="857250" y="47688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F5</a:t>
            </a:r>
          </a:p>
        </p:txBody>
      </p:sp>
      <p:sp>
        <p:nvSpPr>
          <p:cNvPr id="20" name="strengths-text-4">
            <a:extLst>
              <a:ext uri="{FF2B5EF4-FFF2-40B4-BE49-F238E27FC236}">
                <a16:creationId xmlns:a16="http://schemas.microsoft.com/office/drawing/2014/main" xmlns="" id="{D2542CC0-DB28-42B2-8642-6062CFFBDFED}"/>
              </a:ext>
            </a:extLst>
          </p:cNvPr>
          <p:cNvSpPr>
            <a:spLocks noGrp="1"/>
          </p:cNvSpPr>
          <p:nvPr/>
        </p:nvSpPr>
        <p:spPr>
          <a:xfrm>
            <a:off x="1352550" y="4768850"/>
            <a:ext cx="432435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Mobile com dashboard, alertas, pedidos, Financeiro e Produtos.</a:t>
            </a:r>
          </a:p>
        </p:txBody>
      </p:sp>
      <p:sp>
        <p:nvSpPr>
          <p:cNvPr id="21" name="strengths-line-4">
            <a:extLst>
              <a:ext uri="{FF2B5EF4-FFF2-40B4-BE49-F238E27FC236}">
                <a16:creationId xmlns:a16="http://schemas.microsoft.com/office/drawing/2014/main" xmlns="" id="{422C8BA8-1D29-4658-BD32-6A84A3837E34}"/>
              </a:ext>
            </a:extLst>
          </p:cNvPr>
          <p:cNvSpPr>
            <a:spLocks noGrp="1"/>
          </p:cNvSpPr>
          <p:nvPr/>
        </p:nvSpPr>
        <p:spPr>
          <a:xfrm>
            <a:off x="857250" y="5327650"/>
            <a:ext cx="4838700" cy="9525"/>
          </a:xfrm>
          <a:prstGeom prst="rect">
            <a:avLst/>
          </a:prstGeom>
          <a:solidFill>
            <a:srgbClr val="20BF82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22" name="strengths-code-5">
            <a:extLst>
              <a:ext uri="{FF2B5EF4-FFF2-40B4-BE49-F238E27FC236}">
                <a16:creationId xmlns:a16="http://schemas.microsoft.com/office/drawing/2014/main" xmlns="" id="{C10F145A-96B3-4D0D-B168-40B1343829E8}"/>
              </a:ext>
            </a:extLst>
          </p:cNvPr>
          <p:cNvSpPr>
            <a:spLocks noGrp="1"/>
          </p:cNvSpPr>
          <p:nvPr/>
        </p:nvSpPr>
        <p:spPr>
          <a:xfrm>
            <a:off x="857250" y="537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F6</a:t>
            </a:r>
          </a:p>
        </p:txBody>
      </p:sp>
      <p:sp>
        <p:nvSpPr>
          <p:cNvPr id="23" name="strengths-text-5">
            <a:extLst>
              <a:ext uri="{FF2B5EF4-FFF2-40B4-BE49-F238E27FC236}">
                <a16:creationId xmlns:a16="http://schemas.microsoft.com/office/drawing/2014/main" xmlns="" id="{2D9C9CB4-24C1-48B3-BF99-6E91864D17A4}"/>
              </a:ext>
            </a:extLst>
          </p:cNvPr>
          <p:cNvSpPr>
            <a:spLocks noGrp="1"/>
          </p:cNvSpPr>
          <p:nvPr/>
        </p:nvSpPr>
        <p:spPr>
          <a:xfrm>
            <a:off x="1352550" y="5375275"/>
            <a:ext cx="432435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Testes, validação de tipos, lint e documentação técnica.</a:t>
            </a:r>
          </a:p>
        </p:txBody>
      </p:sp>
      <p:sp>
        <p:nvSpPr>
          <p:cNvPr id="24" name="weaknesses-surface">
            <a:extLst>
              <a:ext uri="{FF2B5EF4-FFF2-40B4-BE49-F238E27FC236}">
                <a16:creationId xmlns:a16="http://schemas.microsoft.com/office/drawing/2014/main" xmlns="" id="{7419810A-4B64-473D-BBD5-AE6989B5A904}"/>
              </a:ext>
            </a:extLst>
          </p:cNvPr>
          <p:cNvSpPr>
            <a:spLocks noGrp="1"/>
          </p:cNvSpPr>
          <p:nvPr/>
        </p:nvSpPr>
        <p:spPr>
          <a:xfrm>
            <a:off x="6229350" y="2190750"/>
            <a:ext cx="5276850" cy="392430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9525">
            <a:solidFill>
              <a:srgbClr val="EF607A">
                <a:alpha val="35000"/>
              </a:srgbClr>
            </a:solidFill>
            <a:prstDash val="solid"/>
          </a:ln>
        </p:spPr>
      </p:sp>
      <p:sp>
        <p:nvSpPr>
          <p:cNvPr id="25" name="weaknesses-code-0">
            <a:extLst>
              <a:ext uri="{FF2B5EF4-FFF2-40B4-BE49-F238E27FC236}">
                <a16:creationId xmlns:a16="http://schemas.microsoft.com/office/drawing/2014/main" xmlns="" id="{DD105C7C-9647-42CC-A4FC-C1683334BDAF}"/>
              </a:ext>
            </a:extLst>
          </p:cNvPr>
          <p:cNvSpPr>
            <a:spLocks noGrp="1"/>
          </p:cNvSpPr>
          <p:nvPr/>
        </p:nvSpPr>
        <p:spPr>
          <a:xfrm>
            <a:off x="6400800" y="23431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W1</a:t>
            </a:r>
          </a:p>
        </p:txBody>
      </p:sp>
      <p:sp>
        <p:nvSpPr>
          <p:cNvPr id="26" name="weaknesses-text-0">
            <a:extLst>
              <a:ext uri="{FF2B5EF4-FFF2-40B4-BE49-F238E27FC236}">
                <a16:creationId xmlns:a16="http://schemas.microsoft.com/office/drawing/2014/main" xmlns="" id="{AF4E073A-F641-42BE-84BD-1C60052FDD48}"/>
              </a:ext>
            </a:extLst>
          </p:cNvPr>
          <p:cNvSpPr>
            <a:spLocks noGrp="1"/>
          </p:cNvSpPr>
          <p:nvPr/>
        </p:nvSpPr>
        <p:spPr>
          <a:xfrm>
            <a:off x="6896100" y="2343150"/>
            <a:ext cx="441960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Parte dos módulos ainda opera somente na aplicação web.</a:t>
            </a:r>
          </a:p>
        </p:txBody>
      </p:sp>
      <p:sp>
        <p:nvSpPr>
          <p:cNvPr id="27" name="weaknesses-line-0">
            <a:extLst>
              <a:ext uri="{FF2B5EF4-FFF2-40B4-BE49-F238E27FC236}">
                <a16:creationId xmlns:a16="http://schemas.microsoft.com/office/drawing/2014/main" xmlns="" id="{D4792401-FE7F-4622-9AC4-956BAE3B433B}"/>
              </a:ext>
            </a:extLst>
          </p:cNvPr>
          <p:cNvSpPr>
            <a:spLocks noGrp="1"/>
          </p:cNvSpPr>
          <p:nvPr/>
        </p:nvSpPr>
        <p:spPr>
          <a:xfrm>
            <a:off x="6400800" y="2901950"/>
            <a:ext cx="4933950" cy="9525"/>
          </a:xfrm>
          <a:prstGeom prst="rect">
            <a:avLst/>
          </a:prstGeom>
          <a:solidFill>
            <a:srgbClr val="EF607A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28" name="weaknesses-code-1">
            <a:extLst>
              <a:ext uri="{FF2B5EF4-FFF2-40B4-BE49-F238E27FC236}">
                <a16:creationId xmlns:a16="http://schemas.microsoft.com/office/drawing/2014/main" xmlns="" id="{0A190AC5-9BBD-4E17-A780-22886E246CD6}"/>
              </a:ext>
            </a:extLst>
          </p:cNvPr>
          <p:cNvSpPr>
            <a:spLocks noGrp="1"/>
          </p:cNvSpPr>
          <p:nvPr/>
        </p:nvSpPr>
        <p:spPr>
          <a:xfrm>
            <a:off x="6400800" y="29495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W2</a:t>
            </a:r>
          </a:p>
        </p:txBody>
      </p:sp>
      <p:sp>
        <p:nvSpPr>
          <p:cNvPr id="29" name="weaknesses-text-1">
            <a:extLst>
              <a:ext uri="{FF2B5EF4-FFF2-40B4-BE49-F238E27FC236}">
                <a16:creationId xmlns:a16="http://schemas.microsoft.com/office/drawing/2014/main" xmlns="" id="{F74253BF-FEDB-41A2-BAFE-57E71506C96E}"/>
              </a:ext>
            </a:extLst>
          </p:cNvPr>
          <p:cNvSpPr>
            <a:spLocks noGrp="1"/>
          </p:cNvSpPr>
          <p:nvPr/>
        </p:nvSpPr>
        <p:spPr>
          <a:xfrm>
            <a:off x="6896100" y="2949575"/>
            <a:ext cx="441960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Copiloto ainda sem provedor externo de IA generativa.</a:t>
            </a:r>
          </a:p>
        </p:txBody>
      </p:sp>
      <p:sp>
        <p:nvSpPr>
          <p:cNvPr id="30" name="weaknesses-line-1">
            <a:extLst>
              <a:ext uri="{FF2B5EF4-FFF2-40B4-BE49-F238E27FC236}">
                <a16:creationId xmlns:a16="http://schemas.microsoft.com/office/drawing/2014/main" xmlns="" id="{6E307EDD-E07B-4C9D-9FEB-9C7A39A88284}"/>
              </a:ext>
            </a:extLst>
          </p:cNvPr>
          <p:cNvSpPr>
            <a:spLocks noGrp="1"/>
          </p:cNvSpPr>
          <p:nvPr/>
        </p:nvSpPr>
        <p:spPr>
          <a:xfrm>
            <a:off x="6400800" y="3508375"/>
            <a:ext cx="4933950" cy="9525"/>
          </a:xfrm>
          <a:prstGeom prst="rect">
            <a:avLst/>
          </a:prstGeom>
          <a:solidFill>
            <a:srgbClr val="EF607A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31" name="weaknesses-code-2">
            <a:extLst>
              <a:ext uri="{FF2B5EF4-FFF2-40B4-BE49-F238E27FC236}">
                <a16:creationId xmlns:a16="http://schemas.microsoft.com/office/drawing/2014/main" xmlns="" id="{593D997D-D87B-487D-BCEF-F3D3ADD196C4}"/>
              </a:ext>
            </a:extLst>
          </p:cNvPr>
          <p:cNvSpPr>
            <a:spLocks noGrp="1"/>
          </p:cNvSpPr>
          <p:nvPr/>
        </p:nvSpPr>
        <p:spPr>
          <a:xfrm>
            <a:off x="6400800" y="35560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W3</a:t>
            </a:r>
          </a:p>
        </p:txBody>
      </p:sp>
      <p:sp>
        <p:nvSpPr>
          <p:cNvPr id="32" name="weaknesses-text-2">
            <a:extLst>
              <a:ext uri="{FF2B5EF4-FFF2-40B4-BE49-F238E27FC236}">
                <a16:creationId xmlns:a16="http://schemas.microsoft.com/office/drawing/2014/main" xmlns="" id="{1DF21B76-9739-41AD-9977-C78021917C3F}"/>
              </a:ext>
            </a:extLst>
          </p:cNvPr>
          <p:cNvSpPr>
            <a:spLocks noGrp="1"/>
          </p:cNvSpPr>
          <p:nvPr/>
        </p:nvSpPr>
        <p:spPr>
          <a:xfrm>
            <a:off x="6896100" y="3556000"/>
            <a:ext cx="441960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Integrações fiscal, bancária, contábil e de pagamento pendentes.</a:t>
            </a:r>
          </a:p>
        </p:txBody>
      </p:sp>
      <p:sp>
        <p:nvSpPr>
          <p:cNvPr id="33" name="weaknesses-line-2">
            <a:extLst>
              <a:ext uri="{FF2B5EF4-FFF2-40B4-BE49-F238E27FC236}">
                <a16:creationId xmlns:a16="http://schemas.microsoft.com/office/drawing/2014/main" xmlns="" id="{656129FB-F154-4ADB-AFE0-820F96FB6C96}"/>
              </a:ext>
            </a:extLst>
          </p:cNvPr>
          <p:cNvSpPr>
            <a:spLocks noGrp="1"/>
          </p:cNvSpPr>
          <p:nvPr/>
        </p:nvSpPr>
        <p:spPr>
          <a:xfrm>
            <a:off x="6400800" y="4114800"/>
            <a:ext cx="4933950" cy="9525"/>
          </a:xfrm>
          <a:prstGeom prst="rect">
            <a:avLst/>
          </a:prstGeom>
          <a:solidFill>
            <a:srgbClr val="EF607A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34" name="weaknesses-code-3">
            <a:extLst>
              <a:ext uri="{FF2B5EF4-FFF2-40B4-BE49-F238E27FC236}">
                <a16:creationId xmlns:a16="http://schemas.microsoft.com/office/drawing/2014/main" xmlns="" id="{EFD7A8DE-36E4-4537-979A-4B2AE7A4A59F}"/>
              </a:ext>
            </a:extLst>
          </p:cNvPr>
          <p:cNvSpPr>
            <a:spLocks noGrp="1"/>
          </p:cNvSpPr>
          <p:nvPr/>
        </p:nvSpPr>
        <p:spPr>
          <a:xfrm>
            <a:off x="6400800" y="416242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W4</a:t>
            </a:r>
          </a:p>
        </p:txBody>
      </p:sp>
      <p:sp>
        <p:nvSpPr>
          <p:cNvPr id="35" name="weaknesses-text-3">
            <a:extLst>
              <a:ext uri="{FF2B5EF4-FFF2-40B4-BE49-F238E27FC236}">
                <a16:creationId xmlns:a16="http://schemas.microsoft.com/office/drawing/2014/main" xmlns="" id="{795B4D4E-38BE-4579-A709-C9BEFCBA7E20}"/>
              </a:ext>
            </a:extLst>
          </p:cNvPr>
          <p:cNvSpPr>
            <a:spLocks noGrp="1"/>
          </p:cNvSpPr>
          <p:nvPr/>
        </p:nvSpPr>
        <p:spPr>
          <a:xfrm>
            <a:off x="6896100" y="4162425"/>
            <a:ext cx="441960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Configuração de API e rede ainda exige conhecimento técnico.</a:t>
            </a:r>
          </a:p>
        </p:txBody>
      </p:sp>
      <p:sp>
        <p:nvSpPr>
          <p:cNvPr id="36" name="weaknesses-line-3">
            <a:extLst>
              <a:ext uri="{FF2B5EF4-FFF2-40B4-BE49-F238E27FC236}">
                <a16:creationId xmlns:a16="http://schemas.microsoft.com/office/drawing/2014/main" xmlns="" id="{64D9C5DB-9F2F-431D-943B-538F2E5A79E5}"/>
              </a:ext>
            </a:extLst>
          </p:cNvPr>
          <p:cNvSpPr>
            <a:spLocks noGrp="1"/>
          </p:cNvSpPr>
          <p:nvPr/>
        </p:nvSpPr>
        <p:spPr>
          <a:xfrm>
            <a:off x="6400800" y="4721225"/>
            <a:ext cx="4933950" cy="9525"/>
          </a:xfrm>
          <a:prstGeom prst="rect">
            <a:avLst/>
          </a:prstGeom>
          <a:solidFill>
            <a:srgbClr val="EF607A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37" name="weaknesses-code-4">
            <a:extLst>
              <a:ext uri="{FF2B5EF4-FFF2-40B4-BE49-F238E27FC236}">
                <a16:creationId xmlns:a16="http://schemas.microsoft.com/office/drawing/2014/main" xmlns="" id="{94BCE599-160F-4D64-8F6E-B5B7B81FAB0A}"/>
              </a:ext>
            </a:extLst>
          </p:cNvPr>
          <p:cNvSpPr>
            <a:spLocks noGrp="1"/>
          </p:cNvSpPr>
          <p:nvPr/>
        </p:nvSpPr>
        <p:spPr>
          <a:xfrm>
            <a:off x="6400800" y="47688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W5</a:t>
            </a:r>
          </a:p>
        </p:txBody>
      </p:sp>
      <p:sp>
        <p:nvSpPr>
          <p:cNvPr id="38" name="weaknesses-text-4">
            <a:extLst>
              <a:ext uri="{FF2B5EF4-FFF2-40B4-BE49-F238E27FC236}">
                <a16:creationId xmlns:a16="http://schemas.microsoft.com/office/drawing/2014/main" xmlns="" id="{BC52B7F0-08C1-438C-97C9-7EC5BA1ECF74}"/>
              </a:ext>
            </a:extLst>
          </p:cNvPr>
          <p:cNvSpPr>
            <a:spLocks noGrp="1"/>
          </p:cNvSpPr>
          <p:nvPr/>
        </p:nvSpPr>
        <p:spPr>
          <a:xfrm>
            <a:off x="6896100" y="4768850"/>
            <a:ext cx="441960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Equipe pequena e dependência de pessoas-chave.</a:t>
            </a:r>
          </a:p>
        </p:txBody>
      </p:sp>
      <p:sp>
        <p:nvSpPr>
          <p:cNvPr id="39" name="weaknesses-line-4">
            <a:extLst>
              <a:ext uri="{FF2B5EF4-FFF2-40B4-BE49-F238E27FC236}">
                <a16:creationId xmlns:a16="http://schemas.microsoft.com/office/drawing/2014/main" xmlns="" id="{63F0204C-0F48-4A07-B9E3-0AE1351105A0}"/>
              </a:ext>
            </a:extLst>
          </p:cNvPr>
          <p:cNvSpPr>
            <a:spLocks noGrp="1"/>
          </p:cNvSpPr>
          <p:nvPr/>
        </p:nvSpPr>
        <p:spPr>
          <a:xfrm>
            <a:off x="6400800" y="5327650"/>
            <a:ext cx="4933950" cy="9525"/>
          </a:xfrm>
          <a:prstGeom prst="rect">
            <a:avLst/>
          </a:prstGeom>
          <a:solidFill>
            <a:srgbClr val="EF607A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40" name="weaknesses-code-5">
            <a:extLst>
              <a:ext uri="{FF2B5EF4-FFF2-40B4-BE49-F238E27FC236}">
                <a16:creationId xmlns:a16="http://schemas.microsoft.com/office/drawing/2014/main" xmlns="" id="{BEC8A62E-85F2-45DF-88F6-BB01D62232C8}"/>
              </a:ext>
            </a:extLst>
          </p:cNvPr>
          <p:cNvSpPr>
            <a:spLocks noGrp="1"/>
          </p:cNvSpPr>
          <p:nvPr/>
        </p:nvSpPr>
        <p:spPr>
          <a:xfrm>
            <a:off x="6400800" y="537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W6</a:t>
            </a:r>
          </a:p>
        </p:txBody>
      </p:sp>
      <p:sp>
        <p:nvSpPr>
          <p:cNvPr id="41" name="weaknesses-text-5">
            <a:extLst>
              <a:ext uri="{FF2B5EF4-FFF2-40B4-BE49-F238E27FC236}">
                <a16:creationId xmlns:a16="http://schemas.microsoft.com/office/drawing/2014/main" xmlns="" id="{76D54EA5-4E5D-47FA-802D-F7CB3FC60BF7}"/>
              </a:ext>
            </a:extLst>
          </p:cNvPr>
          <p:cNvSpPr>
            <a:spLocks noGrp="1"/>
          </p:cNvSpPr>
          <p:nvPr/>
        </p:nvSpPr>
        <p:spPr>
          <a:xfrm>
            <a:off x="6896100" y="5375275"/>
            <a:ext cx="441960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Poucos dados de retenção, uso real e disposição de pagamento.</a:t>
            </a:r>
          </a:p>
        </p:txBody>
      </p:sp>
      <p:sp>
        <p:nvSpPr>
          <p:cNvPr id="42" name="footer-rule-4">
            <a:extLst>
              <a:ext uri="{FF2B5EF4-FFF2-40B4-BE49-F238E27FC236}">
                <a16:creationId xmlns:a16="http://schemas.microsoft.com/office/drawing/2014/main" xmlns="" id="{CEB7FD3C-33DC-491A-A727-88A57824E84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43" name="footer-brand-4">
            <a:extLst>
              <a:ext uri="{FF2B5EF4-FFF2-40B4-BE49-F238E27FC236}">
                <a16:creationId xmlns:a16="http://schemas.microsoft.com/office/drawing/2014/main" xmlns="" id="{D0B29482-0790-4F86-83FE-1D50D8DF5F4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GESTORIA  ·  ANÁLISE DE AMBIENTES</a:t>
            </a:r>
          </a:p>
        </p:txBody>
      </p:sp>
      <p:sp>
        <p:nvSpPr>
          <p:cNvPr id="44" name="footer-page-4">
            <a:extLst>
              <a:ext uri="{FF2B5EF4-FFF2-40B4-BE49-F238E27FC236}">
                <a16:creationId xmlns:a16="http://schemas.microsoft.com/office/drawing/2014/main" xmlns="" id="{F66CCD3C-A96C-4480-AD31-C220A35C8633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lnSpc>
                <a:spcPct val="100000"/>
              </a:lnSpc>
              <a:buNone/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xmlns="" val="20315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externo-eyebrow">
            <a:extLst>
              <a:ext uri="{FF2B5EF4-FFF2-40B4-BE49-F238E27FC236}">
                <a16:creationId xmlns:a16="http://schemas.microsoft.com/office/drawing/2014/main" xmlns="" id="{64D76ABA-7454-4D0D-B03B-4B850C1A532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EXTERNO</a:t>
            </a:r>
          </a:p>
        </p:txBody>
      </p:sp>
      <p:sp>
        <p:nvSpPr>
          <p:cNvPr id="2" name="externo-title">
            <a:extLst>
              <a:ext uri="{FF2B5EF4-FFF2-40B4-BE49-F238E27FC236}">
                <a16:creationId xmlns:a16="http://schemas.microsoft.com/office/drawing/2014/main" xmlns="" id="{1C86CBCE-939D-455A-A252-7BBC5CCD762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Ambiente externo</a:t>
            </a:r>
          </a:p>
        </p:txBody>
      </p:sp>
      <p:sp>
        <p:nvSpPr>
          <p:cNvPr id="3" name="externo-subtitle">
            <a:extLst>
              <a:ext uri="{FF2B5EF4-FFF2-40B4-BE49-F238E27FC236}">
                <a16:creationId xmlns:a16="http://schemas.microsoft.com/office/drawing/2014/main" xmlns="" id="{61B8D76D-A9B9-4F7D-9A63-44E2B6BB2E8E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Oportunidades de mercado e riscos que podem alterar o caminho do produto.</a:t>
            </a:r>
          </a:p>
        </p:txBody>
      </p:sp>
      <p:sp>
        <p:nvSpPr>
          <p:cNvPr id="4" name="external-opportunity-title">
            <a:extLst>
              <a:ext uri="{FF2B5EF4-FFF2-40B4-BE49-F238E27FC236}">
                <a16:creationId xmlns:a16="http://schemas.microsoft.com/office/drawing/2014/main" xmlns="" id="{807266B1-0A1E-4074-A4AD-F6B5F2D421AC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Oportunidades</a:t>
            </a:r>
          </a:p>
        </p:txBody>
      </p:sp>
      <p:sp>
        <p:nvSpPr>
          <p:cNvPr id="5" name="external-threat-title">
            <a:extLst>
              <a:ext uri="{FF2B5EF4-FFF2-40B4-BE49-F238E27FC236}">
                <a16:creationId xmlns:a16="http://schemas.microsoft.com/office/drawing/2014/main" xmlns="" id="{2858BE42-19AD-4D8D-A0F9-7538945FB96F}"/>
              </a:ext>
            </a:extLst>
          </p:cNvPr>
          <p:cNvSpPr>
            <a:spLocks noGrp="1"/>
          </p:cNvSpPr>
          <p:nvPr/>
        </p:nvSpPr>
        <p:spPr>
          <a:xfrm>
            <a:off x="6229350" y="17716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3B33D"/>
                </a:solidFill>
                <a:latin typeface="Calibri"/>
                <a:ea typeface="Calibri"/>
                <a:cs typeface="Calibri"/>
              </a:rPr>
              <a:t>Ameaças</a:t>
            </a:r>
          </a:p>
        </p:txBody>
      </p:sp>
      <p:sp>
        <p:nvSpPr>
          <p:cNvPr id="6" name="opportunities-surface">
            <a:extLst>
              <a:ext uri="{FF2B5EF4-FFF2-40B4-BE49-F238E27FC236}">
                <a16:creationId xmlns:a16="http://schemas.microsoft.com/office/drawing/2014/main" xmlns="" id="{C46839EE-0A7C-49AC-9E89-499E79924907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5181600" cy="392430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9525">
            <a:solidFill>
              <a:srgbClr val="2768F4">
                <a:alpha val="35000"/>
              </a:srgbClr>
            </a:solidFill>
            <a:prstDash val="solid"/>
          </a:ln>
        </p:spPr>
      </p:sp>
      <p:sp>
        <p:nvSpPr>
          <p:cNvPr id="7" name="opportunities-code-0">
            <a:extLst>
              <a:ext uri="{FF2B5EF4-FFF2-40B4-BE49-F238E27FC236}">
                <a16:creationId xmlns:a16="http://schemas.microsoft.com/office/drawing/2014/main" xmlns="" id="{2F4DD804-2C10-4A6F-91D1-BB7E09A1514B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O1</a:t>
            </a:r>
          </a:p>
        </p:txBody>
      </p:sp>
      <p:sp>
        <p:nvSpPr>
          <p:cNvPr id="8" name="opportunities-text-0">
            <a:extLst>
              <a:ext uri="{FF2B5EF4-FFF2-40B4-BE49-F238E27FC236}">
                <a16:creationId xmlns:a16="http://schemas.microsoft.com/office/drawing/2014/main" xmlns="" id="{51CF85AD-0FFB-43CF-BD81-A4372ED2365C}"/>
              </a:ext>
            </a:extLst>
          </p:cNvPr>
          <p:cNvSpPr>
            <a:spLocks noGrp="1"/>
          </p:cNvSpPr>
          <p:nvPr/>
        </p:nvSpPr>
        <p:spPr>
          <a:xfrm>
            <a:off x="1352550" y="2343150"/>
            <a:ext cx="432435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Pequenos negócios precisam centralizar informações dispersas.</a:t>
            </a:r>
          </a:p>
        </p:txBody>
      </p:sp>
      <p:sp>
        <p:nvSpPr>
          <p:cNvPr id="9" name="opportunities-line-0">
            <a:extLst>
              <a:ext uri="{FF2B5EF4-FFF2-40B4-BE49-F238E27FC236}">
                <a16:creationId xmlns:a16="http://schemas.microsoft.com/office/drawing/2014/main" xmlns="" id="{199B7605-1BC3-4B86-AD3E-64E7B5FEEB21}"/>
              </a:ext>
            </a:extLst>
          </p:cNvPr>
          <p:cNvSpPr>
            <a:spLocks noGrp="1"/>
          </p:cNvSpPr>
          <p:nvPr/>
        </p:nvSpPr>
        <p:spPr>
          <a:xfrm>
            <a:off x="857250" y="2901950"/>
            <a:ext cx="4838700" cy="9525"/>
          </a:xfrm>
          <a:prstGeom prst="rect">
            <a:avLst/>
          </a:prstGeom>
          <a:solidFill>
            <a:srgbClr val="2768F4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10" name="opportunities-code-1">
            <a:extLst>
              <a:ext uri="{FF2B5EF4-FFF2-40B4-BE49-F238E27FC236}">
                <a16:creationId xmlns:a16="http://schemas.microsoft.com/office/drawing/2014/main" xmlns="" id="{FBE5CB71-202A-4D52-A52C-F6BE20233BBA}"/>
              </a:ext>
            </a:extLst>
          </p:cNvPr>
          <p:cNvSpPr>
            <a:spLocks noGrp="1"/>
          </p:cNvSpPr>
          <p:nvPr/>
        </p:nvSpPr>
        <p:spPr>
          <a:xfrm>
            <a:off x="857250" y="29495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O2</a:t>
            </a:r>
          </a:p>
        </p:txBody>
      </p:sp>
      <p:sp>
        <p:nvSpPr>
          <p:cNvPr id="11" name="opportunities-text-1">
            <a:extLst>
              <a:ext uri="{FF2B5EF4-FFF2-40B4-BE49-F238E27FC236}">
                <a16:creationId xmlns:a16="http://schemas.microsoft.com/office/drawing/2014/main" xmlns="" id="{6743F400-8FE0-4415-A625-15FBD1CAEA98}"/>
              </a:ext>
            </a:extLst>
          </p:cNvPr>
          <p:cNvSpPr>
            <a:spLocks noGrp="1"/>
          </p:cNvSpPr>
          <p:nvPr/>
        </p:nvSpPr>
        <p:spPr>
          <a:xfrm>
            <a:off x="1352550" y="2949575"/>
            <a:ext cx="432435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Gestores demandam acompanhamento e decisão pelo celular.</a:t>
            </a:r>
          </a:p>
        </p:txBody>
      </p:sp>
      <p:sp>
        <p:nvSpPr>
          <p:cNvPr id="12" name="opportunities-line-1">
            <a:extLst>
              <a:ext uri="{FF2B5EF4-FFF2-40B4-BE49-F238E27FC236}">
                <a16:creationId xmlns:a16="http://schemas.microsoft.com/office/drawing/2014/main" xmlns="" id="{9AC06AB6-729C-42F5-9234-3B583898579E}"/>
              </a:ext>
            </a:extLst>
          </p:cNvPr>
          <p:cNvSpPr>
            <a:spLocks noGrp="1"/>
          </p:cNvSpPr>
          <p:nvPr/>
        </p:nvSpPr>
        <p:spPr>
          <a:xfrm>
            <a:off x="857250" y="3508375"/>
            <a:ext cx="4838700" cy="9525"/>
          </a:xfrm>
          <a:prstGeom prst="rect">
            <a:avLst/>
          </a:prstGeom>
          <a:solidFill>
            <a:srgbClr val="2768F4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13" name="opportunities-code-2">
            <a:extLst>
              <a:ext uri="{FF2B5EF4-FFF2-40B4-BE49-F238E27FC236}">
                <a16:creationId xmlns:a16="http://schemas.microsoft.com/office/drawing/2014/main" xmlns="" id="{6FD769BB-DF9E-4D81-8B51-CB6A71D95007}"/>
              </a:ext>
            </a:extLst>
          </p:cNvPr>
          <p:cNvSpPr>
            <a:spLocks noGrp="1"/>
          </p:cNvSpPr>
          <p:nvPr/>
        </p:nvSpPr>
        <p:spPr>
          <a:xfrm>
            <a:off x="857250" y="35560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O3</a:t>
            </a:r>
          </a:p>
        </p:txBody>
      </p:sp>
      <p:sp>
        <p:nvSpPr>
          <p:cNvPr id="14" name="opportunities-text-2">
            <a:extLst>
              <a:ext uri="{FF2B5EF4-FFF2-40B4-BE49-F238E27FC236}">
                <a16:creationId xmlns:a16="http://schemas.microsoft.com/office/drawing/2014/main" xmlns="" id="{83DFFC49-4D1F-40F1-A598-360B43BBB2D7}"/>
              </a:ext>
            </a:extLst>
          </p:cNvPr>
          <p:cNvSpPr>
            <a:spLocks noGrp="1"/>
          </p:cNvSpPr>
          <p:nvPr/>
        </p:nvSpPr>
        <p:spPr>
          <a:xfrm>
            <a:off x="1352550" y="3556000"/>
            <a:ext cx="432435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Alertas e indicadores podem orientar decisões diárias.</a:t>
            </a:r>
          </a:p>
        </p:txBody>
      </p:sp>
      <p:sp>
        <p:nvSpPr>
          <p:cNvPr id="15" name="opportunities-line-2">
            <a:extLst>
              <a:ext uri="{FF2B5EF4-FFF2-40B4-BE49-F238E27FC236}">
                <a16:creationId xmlns:a16="http://schemas.microsoft.com/office/drawing/2014/main" xmlns="" id="{4E97F7B8-7A47-49DB-BB85-88ADBC0C05BD}"/>
              </a:ext>
            </a:extLst>
          </p:cNvPr>
          <p:cNvSpPr>
            <a:spLocks noGrp="1"/>
          </p:cNvSpPr>
          <p:nvPr/>
        </p:nvSpPr>
        <p:spPr>
          <a:xfrm>
            <a:off x="857250" y="4114800"/>
            <a:ext cx="4838700" cy="9525"/>
          </a:xfrm>
          <a:prstGeom prst="rect">
            <a:avLst/>
          </a:prstGeom>
          <a:solidFill>
            <a:srgbClr val="2768F4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16" name="opportunities-code-3">
            <a:extLst>
              <a:ext uri="{FF2B5EF4-FFF2-40B4-BE49-F238E27FC236}">
                <a16:creationId xmlns:a16="http://schemas.microsoft.com/office/drawing/2014/main" xmlns="" id="{E6E1CFEE-73A2-4B6A-8453-A5144E364FE0}"/>
              </a:ext>
            </a:extLst>
          </p:cNvPr>
          <p:cNvSpPr>
            <a:spLocks noGrp="1"/>
          </p:cNvSpPr>
          <p:nvPr/>
        </p:nvSpPr>
        <p:spPr>
          <a:xfrm>
            <a:off x="857250" y="416242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O4</a:t>
            </a:r>
          </a:p>
        </p:txBody>
      </p:sp>
      <p:sp>
        <p:nvSpPr>
          <p:cNvPr id="17" name="opportunities-text-3">
            <a:extLst>
              <a:ext uri="{FF2B5EF4-FFF2-40B4-BE49-F238E27FC236}">
                <a16:creationId xmlns:a16="http://schemas.microsoft.com/office/drawing/2014/main" xmlns="" id="{925F9426-8CFF-4F01-9E65-80FF230C6D98}"/>
              </a:ext>
            </a:extLst>
          </p:cNvPr>
          <p:cNvSpPr>
            <a:spLocks noGrp="1"/>
          </p:cNvSpPr>
          <p:nvPr/>
        </p:nvSpPr>
        <p:spPr>
          <a:xfrm>
            <a:off x="1352550" y="4162425"/>
            <a:ext cx="432435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Planos SaaS permitem atender níveis distintos de maturidade.</a:t>
            </a:r>
          </a:p>
        </p:txBody>
      </p:sp>
      <p:sp>
        <p:nvSpPr>
          <p:cNvPr id="18" name="opportunities-line-3">
            <a:extLst>
              <a:ext uri="{FF2B5EF4-FFF2-40B4-BE49-F238E27FC236}">
                <a16:creationId xmlns:a16="http://schemas.microsoft.com/office/drawing/2014/main" xmlns="" id="{C07EB54C-67AC-4804-9638-D03F506D56D2}"/>
              </a:ext>
            </a:extLst>
          </p:cNvPr>
          <p:cNvSpPr>
            <a:spLocks noGrp="1"/>
          </p:cNvSpPr>
          <p:nvPr/>
        </p:nvSpPr>
        <p:spPr>
          <a:xfrm>
            <a:off x="857250" y="4721225"/>
            <a:ext cx="4838700" cy="9525"/>
          </a:xfrm>
          <a:prstGeom prst="rect">
            <a:avLst/>
          </a:prstGeom>
          <a:solidFill>
            <a:srgbClr val="2768F4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19" name="opportunities-code-4">
            <a:extLst>
              <a:ext uri="{FF2B5EF4-FFF2-40B4-BE49-F238E27FC236}">
                <a16:creationId xmlns:a16="http://schemas.microsoft.com/office/drawing/2014/main" xmlns="" id="{17826083-916F-4679-9366-7E2C09607B03}"/>
              </a:ext>
            </a:extLst>
          </p:cNvPr>
          <p:cNvSpPr>
            <a:spLocks noGrp="1"/>
          </p:cNvSpPr>
          <p:nvPr/>
        </p:nvSpPr>
        <p:spPr>
          <a:xfrm>
            <a:off x="857250" y="47688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O5</a:t>
            </a:r>
          </a:p>
        </p:txBody>
      </p:sp>
      <p:sp>
        <p:nvSpPr>
          <p:cNvPr id="20" name="opportunities-text-4">
            <a:extLst>
              <a:ext uri="{FF2B5EF4-FFF2-40B4-BE49-F238E27FC236}">
                <a16:creationId xmlns:a16="http://schemas.microsoft.com/office/drawing/2014/main" xmlns="" id="{332C56F9-318B-4FC1-9920-F27F96AB8AE1}"/>
              </a:ext>
            </a:extLst>
          </p:cNvPr>
          <p:cNvSpPr>
            <a:spLocks noGrp="1"/>
          </p:cNvSpPr>
          <p:nvPr/>
        </p:nvSpPr>
        <p:spPr>
          <a:xfrm>
            <a:off x="1352550" y="4768850"/>
            <a:ext cx="432435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Segmentos com pedidos, produção e estoque permitem especialização.</a:t>
            </a:r>
          </a:p>
        </p:txBody>
      </p:sp>
      <p:sp>
        <p:nvSpPr>
          <p:cNvPr id="21" name="opportunities-line-4">
            <a:extLst>
              <a:ext uri="{FF2B5EF4-FFF2-40B4-BE49-F238E27FC236}">
                <a16:creationId xmlns:a16="http://schemas.microsoft.com/office/drawing/2014/main" xmlns="" id="{2FCCDDD8-45A4-4D48-BFA1-3D4862C0FB30}"/>
              </a:ext>
            </a:extLst>
          </p:cNvPr>
          <p:cNvSpPr>
            <a:spLocks noGrp="1"/>
          </p:cNvSpPr>
          <p:nvPr/>
        </p:nvSpPr>
        <p:spPr>
          <a:xfrm>
            <a:off x="857250" y="5327650"/>
            <a:ext cx="4838700" cy="9525"/>
          </a:xfrm>
          <a:prstGeom prst="rect">
            <a:avLst/>
          </a:prstGeom>
          <a:solidFill>
            <a:srgbClr val="2768F4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22" name="opportunities-code-5">
            <a:extLst>
              <a:ext uri="{FF2B5EF4-FFF2-40B4-BE49-F238E27FC236}">
                <a16:creationId xmlns:a16="http://schemas.microsoft.com/office/drawing/2014/main" xmlns="" id="{015EA092-C883-45DE-8B8A-F04A9928B8D5}"/>
              </a:ext>
            </a:extLst>
          </p:cNvPr>
          <p:cNvSpPr>
            <a:spLocks noGrp="1"/>
          </p:cNvSpPr>
          <p:nvPr/>
        </p:nvSpPr>
        <p:spPr>
          <a:xfrm>
            <a:off x="857250" y="537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O6</a:t>
            </a:r>
          </a:p>
        </p:txBody>
      </p:sp>
      <p:sp>
        <p:nvSpPr>
          <p:cNvPr id="23" name="opportunities-text-5">
            <a:extLst>
              <a:ext uri="{FF2B5EF4-FFF2-40B4-BE49-F238E27FC236}">
                <a16:creationId xmlns:a16="http://schemas.microsoft.com/office/drawing/2014/main" xmlns="" id="{B0AEC681-1B0B-484F-8310-E023C2ED9F1F}"/>
              </a:ext>
            </a:extLst>
          </p:cNvPr>
          <p:cNvSpPr>
            <a:spLocks noGrp="1"/>
          </p:cNvSpPr>
          <p:nvPr/>
        </p:nvSpPr>
        <p:spPr>
          <a:xfrm>
            <a:off x="1352550" y="5375275"/>
            <a:ext cx="432435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IA controlada pode simplificar consultas com rastreabilidade.</a:t>
            </a:r>
          </a:p>
        </p:txBody>
      </p:sp>
      <p:sp>
        <p:nvSpPr>
          <p:cNvPr id="24" name="threats-surface">
            <a:extLst>
              <a:ext uri="{FF2B5EF4-FFF2-40B4-BE49-F238E27FC236}">
                <a16:creationId xmlns:a16="http://schemas.microsoft.com/office/drawing/2014/main" xmlns="" id="{716D8DE6-641A-44C2-A9B5-B81905D37683}"/>
              </a:ext>
            </a:extLst>
          </p:cNvPr>
          <p:cNvSpPr>
            <a:spLocks noGrp="1"/>
          </p:cNvSpPr>
          <p:nvPr/>
        </p:nvSpPr>
        <p:spPr>
          <a:xfrm>
            <a:off x="6229350" y="2190750"/>
            <a:ext cx="5276850" cy="392430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9525">
            <a:solidFill>
              <a:srgbClr val="F3B33D">
                <a:alpha val="35000"/>
              </a:srgbClr>
            </a:solidFill>
            <a:prstDash val="solid"/>
          </a:ln>
        </p:spPr>
      </p:sp>
      <p:sp>
        <p:nvSpPr>
          <p:cNvPr id="25" name="threats-code-0">
            <a:extLst>
              <a:ext uri="{FF2B5EF4-FFF2-40B4-BE49-F238E27FC236}">
                <a16:creationId xmlns:a16="http://schemas.microsoft.com/office/drawing/2014/main" xmlns="" id="{23F7D113-97E1-4AD8-B9F5-5A9BE60AA128}"/>
              </a:ext>
            </a:extLst>
          </p:cNvPr>
          <p:cNvSpPr>
            <a:spLocks noGrp="1"/>
          </p:cNvSpPr>
          <p:nvPr/>
        </p:nvSpPr>
        <p:spPr>
          <a:xfrm>
            <a:off x="6400800" y="23431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3B33D"/>
                </a:solidFill>
                <a:latin typeface="Calibri"/>
                <a:ea typeface="Calibri"/>
                <a:cs typeface="Calibri"/>
              </a:rPr>
              <a:t>T1</a:t>
            </a:r>
          </a:p>
        </p:txBody>
      </p:sp>
      <p:sp>
        <p:nvSpPr>
          <p:cNvPr id="26" name="threats-text-0">
            <a:extLst>
              <a:ext uri="{FF2B5EF4-FFF2-40B4-BE49-F238E27FC236}">
                <a16:creationId xmlns:a16="http://schemas.microsoft.com/office/drawing/2014/main" xmlns="" id="{189327B1-9CC8-4154-8855-A8143C627A96}"/>
              </a:ext>
            </a:extLst>
          </p:cNvPr>
          <p:cNvSpPr>
            <a:spLocks noGrp="1"/>
          </p:cNvSpPr>
          <p:nvPr/>
        </p:nvSpPr>
        <p:spPr>
          <a:xfrm>
            <a:off x="6896100" y="2343150"/>
            <a:ext cx="441960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ERPs consolidados e soluções gratuitas aumentam a competição.</a:t>
            </a:r>
          </a:p>
        </p:txBody>
      </p:sp>
      <p:sp>
        <p:nvSpPr>
          <p:cNvPr id="27" name="threats-line-0">
            <a:extLst>
              <a:ext uri="{FF2B5EF4-FFF2-40B4-BE49-F238E27FC236}">
                <a16:creationId xmlns:a16="http://schemas.microsoft.com/office/drawing/2014/main" xmlns="" id="{D17B38EC-BA83-4208-B230-570297621224}"/>
              </a:ext>
            </a:extLst>
          </p:cNvPr>
          <p:cNvSpPr>
            <a:spLocks noGrp="1"/>
          </p:cNvSpPr>
          <p:nvPr/>
        </p:nvSpPr>
        <p:spPr>
          <a:xfrm>
            <a:off x="6400800" y="2901950"/>
            <a:ext cx="4933950" cy="9525"/>
          </a:xfrm>
          <a:prstGeom prst="rect">
            <a:avLst/>
          </a:prstGeom>
          <a:solidFill>
            <a:srgbClr val="F3B33D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28" name="threats-code-1">
            <a:extLst>
              <a:ext uri="{FF2B5EF4-FFF2-40B4-BE49-F238E27FC236}">
                <a16:creationId xmlns:a16="http://schemas.microsoft.com/office/drawing/2014/main" xmlns="" id="{4DA6F33A-6830-45AC-BE9D-AF70EA47753D}"/>
              </a:ext>
            </a:extLst>
          </p:cNvPr>
          <p:cNvSpPr>
            <a:spLocks noGrp="1"/>
          </p:cNvSpPr>
          <p:nvPr/>
        </p:nvSpPr>
        <p:spPr>
          <a:xfrm>
            <a:off x="6400800" y="29495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3B33D"/>
                </a:solidFill>
                <a:latin typeface="Calibri"/>
                <a:ea typeface="Calibri"/>
                <a:cs typeface="Calibri"/>
              </a:rPr>
              <a:t>T2</a:t>
            </a:r>
          </a:p>
        </p:txBody>
      </p:sp>
      <p:sp>
        <p:nvSpPr>
          <p:cNvPr id="29" name="threats-text-1">
            <a:extLst>
              <a:ext uri="{FF2B5EF4-FFF2-40B4-BE49-F238E27FC236}">
                <a16:creationId xmlns:a16="http://schemas.microsoft.com/office/drawing/2014/main" xmlns="" id="{A5F5D96E-7055-4771-8789-32018B8CCA30}"/>
              </a:ext>
            </a:extLst>
          </p:cNvPr>
          <p:cNvSpPr>
            <a:spLocks noGrp="1"/>
          </p:cNvSpPr>
          <p:nvPr/>
        </p:nvSpPr>
        <p:spPr>
          <a:xfrm>
            <a:off x="6896100" y="2949575"/>
            <a:ext cx="441960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Mudanças fiscais e regulatórias elevam o custo de manutenção.</a:t>
            </a:r>
          </a:p>
        </p:txBody>
      </p:sp>
      <p:sp>
        <p:nvSpPr>
          <p:cNvPr id="30" name="threats-line-1">
            <a:extLst>
              <a:ext uri="{FF2B5EF4-FFF2-40B4-BE49-F238E27FC236}">
                <a16:creationId xmlns:a16="http://schemas.microsoft.com/office/drawing/2014/main" xmlns="" id="{12F25E3B-1345-4389-A3C1-094BF2DEDD4D}"/>
              </a:ext>
            </a:extLst>
          </p:cNvPr>
          <p:cNvSpPr>
            <a:spLocks noGrp="1"/>
          </p:cNvSpPr>
          <p:nvPr/>
        </p:nvSpPr>
        <p:spPr>
          <a:xfrm>
            <a:off x="6400800" y="3508375"/>
            <a:ext cx="4933950" cy="9525"/>
          </a:xfrm>
          <a:prstGeom prst="rect">
            <a:avLst/>
          </a:prstGeom>
          <a:solidFill>
            <a:srgbClr val="F3B33D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31" name="threats-code-2">
            <a:extLst>
              <a:ext uri="{FF2B5EF4-FFF2-40B4-BE49-F238E27FC236}">
                <a16:creationId xmlns:a16="http://schemas.microsoft.com/office/drawing/2014/main" xmlns="" id="{58FD3A0D-2600-490C-B8B6-941890CB6FBC}"/>
              </a:ext>
            </a:extLst>
          </p:cNvPr>
          <p:cNvSpPr>
            <a:spLocks noGrp="1"/>
          </p:cNvSpPr>
          <p:nvPr/>
        </p:nvSpPr>
        <p:spPr>
          <a:xfrm>
            <a:off x="6400800" y="35560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3B33D"/>
                </a:solidFill>
                <a:latin typeface="Calibri"/>
                <a:ea typeface="Calibri"/>
                <a:cs typeface="Calibri"/>
              </a:rPr>
              <a:t>T3</a:t>
            </a:r>
          </a:p>
        </p:txBody>
      </p:sp>
      <p:sp>
        <p:nvSpPr>
          <p:cNvPr id="32" name="threats-text-2">
            <a:extLst>
              <a:ext uri="{FF2B5EF4-FFF2-40B4-BE49-F238E27FC236}">
                <a16:creationId xmlns:a16="http://schemas.microsoft.com/office/drawing/2014/main" xmlns="" id="{4CB76F38-5498-4958-AF4D-36FCD733745B}"/>
              </a:ext>
            </a:extLst>
          </p:cNvPr>
          <p:cNvSpPr>
            <a:spLocks noGrp="1"/>
          </p:cNvSpPr>
          <p:nvPr/>
        </p:nvSpPr>
        <p:spPr>
          <a:xfrm>
            <a:off x="6896100" y="3556000"/>
            <a:ext cx="441960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Incidentes de segurança podem comprometer a confiança.</a:t>
            </a:r>
          </a:p>
        </p:txBody>
      </p:sp>
      <p:sp>
        <p:nvSpPr>
          <p:cNvPr id="33" name="threats-line-2">
            <a:extLst>
              <a:ext uri="{FF2B5EF4-FFF2-40B4-BE49-F238E27FC236}">
                <a16:creationId xmlns:a16="http://schemas.microsoft.com/office/drawing/2014/main" xmlns="" id="{69E1DC6A-76FD-4383-A68B-1E37646AFE77}"/>
              </a:ext>
            </a:extLst>
          </p:cNvPr>
          <p:cNvSpPr>
            <a:spLocks noGrp="1"/>
          </p:cNvSpPr>
          <p:nvPr/>
        </p:nvSpPr>
        <p:spPr>
          <a:xfrm>
            <a:off x="6400800" y="4114800"/>
            <a:ext cx="4933950" cy="9525"/>
          </a:xfrm>
          <a:prstGeom prst="rect">
            <a:avLst/>
          </a:prstGeom>
          <a:solidFill>
            <a:srgbClr val="F3B33D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34" name="threats-code-3">
            <a:extLst>
              <a:ext uri="{FF2B5EF4-FFF2-40B4-BE49-F238E27FC236}">
                <a16:creationId xmlns:a16="http://schemas.microsoft.com/office/drawing/2014/main" xmlns="" id="{8447E074-C5D5-4C2A-8516-D1077C42DB28}"/>
              </a:ext>
            </a:extLst>
          </p:cNvPr>
          <p:cNvSpPr>
            <a:spLocks noGrp="1"/>
          </p:cNvSpPr>
          <p:nvPr/>
        </p:nvSpPr>
        <p:spPr>
          <a:xfrm>
            <a:off x="6400800" y="416242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3B33D"/>
                </a:solidFill>
                <a:latin typeface="Calibri"/>
                <a:ea typeface="Calibri"/>
                <a:cs typeface="Calibri"/>
              </a:rPr>
              <a:t>T4</a:t>
            </a:r>
          </a:p>
        </p:txBody>
      </p:sp>
      <p:sp>
        <p:nvSpPr>
          <p:cNvPr id="35" name="threats-text-3">
            <a:extLst>
              <a:ext uri="{FF2B5EF4-FFF2-40B4-BE49-F238E27FC236}">
                <a16:creationId xmlns:a16="http://schemas.microsoft.com/office/drawing/2014/main" xmlns="" id="{2EC85862-36E1-4DF6-9853-0097B9EDB82E}"/>
              </a:ext>
            </a:extLst>
          </p:cNvPr>
          <p:cNvSpPr>
            <a:spLocks noGrp="1"/>
          </p:cNvSpPr>
          <p:nvPr/>
        </p:nvSpPr>
        <p:spPr>
          <a:xfrm>
            <a:off x="6896100" y="4162425"/>
            <a:ext cx="441960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Custos e disponibilidade de provedores externos podem variar.</a:t>
            </a:r>
          </a:p>
        </p:txBody>
      </p:sp>
      <p:sp>
        <p:nvSpPr>
          <p:cNvPr id="36" name="threats-line-3">
            <a:extLst>
              <a:ext uri="{FF2B5EF4-FFF2-40B4-BE49-F238E27FC236}">
                <a16:creationId xmlns:a16="http://schemas.microsoft.com/office/drawing/2014/main" xmlns="" id="{CA855046-2E2B-4127-A6D3-C59D0D8E97AE}"/>
              </a:ext>
            </a:extLst>
          </p:cNvPr>
          <p:cNvSpPr>
            <a:spLocks noGrp="1"/>
          </p:cNvSpPr>
          <p:nvPr/>
        </p:nvSpPr>
        <p:spPr>
          <a:xfrm>
            <a:off x="6400800" y="4721225"/>
            <a:ext cx="4933950" cy="9525"/>
          </a:xfrm>
          <a:prstGeom prst="rect">
            <a:avLst/>
          </a:prstGeom>
          <a:solidFill>
            <a:srgbClr val="F3B33D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37" name="threats-code-4">
            <a:extLst>
              <a:ext uri="{FF2B5EF4-FFF2-40B4-BE49-F238E27FC236}">
                <a16:creationId xmlns:a16="http://schemas.microsoft.com/office/drawing/2014/main" xmlns="" id="{1D03C7FE-4D4B-490C-8E0A-67563CE28607}"/>
              </a:ext>
            </a:extLst>
          </p:cNvPr>
          <p:cNvSpPr>
            <a:spLocks noGrp="1"/>
          </p:cNvSpPr>
          <p:nvPr/>
        </p:nvSpPr>
        <p:spPr>
          <a:xfrm>
            <a:off x="6400800" y="47688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3B33D"/>
                </a:solidFill>
                <a:latin typeface="Calibri"/>
                <a:ea typeface="Calibri"/>
                <a:cs typeface="Calibri"/>
              </a:rPr>
              <a:t>T5</a:t>
            </a:r>
          </a:p>
        </p:txBody>
      </p:sp>
      <p:sp>
        <p:nvSpPr>
          <p:cNvPr id="38" name="threats-text-4">
            <a:extLst>
              <a:ext uri="{FF2B5EF4-FFF2-40B4-BE49-F238E27FC236}">
                <a16:creationId xmlns:a16="http://schemas.microsoft.com/office/drawing/2014/main" xmlns="" id="{6CE7445B-8274-4F9C-A9E6-14DDD8E81FA5}"/>
              </a:ext>
            </a:extLst>
          </p:cNvPr>
          <p:cNvSpPr>
            <a:spLocks noGrp="1"/>
          </p:cNvSpPr>
          <p:nvPr/>
        </p:nvSpPr>
        <p:spPr>
          <a:xfrm>
            <a:off x="6896100" y="4768850"/>
            <a:ext cx="441960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Usuários podem resistir à troca de planilhas e mensagens.</a:t>
            </a:r>
          </a:p>
        </p:txBody>
      </p:sp>
      <p:sp>
        <p:nvSpPr>
          <p:cNvPr id="39" name="threats-line-4">
            <a:extLst>
              <a:ext uri="{FF2B5EF4-FFF2-40B4-BE49-F238E27FC236}">
                <a16:creationId xmlns:a16="http://schemas.microsoft.com/office/drawing/2014/main" xmlns="" id="{107335F8-3E04-4D82-9769-04AACA411769}"/>
              </a:ext>
            </a:extLst>
          </p:cNvPr>
          <p:cNvSpPr>
            <a:spLocks noGrp="1"/>
          </p:cNvSpPr>
          <p:nvPr/>
        </p:nvSpPr>
        <p:spPr>
          <a:xfrm>
            <a:off x="6400800" y="5327650"/>
            <a:ext cx="4933950" cy="9525"/>
          </a:xfrm>
          <a:prstGeom prst="rect">
            <a:avLst/>
          </a:prstGeom>
          <a:solidFill>
            <a:srgbClr val="F3B33D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40" name="threats-code-5">
            <a:extLst>
              <a:ext uri="{FF2B5EF4-FFF2-40B4-BE49-F238E27FC236}">
                <a16:creationId xmlns:a16="http://schemas.microsoft.com/office/drawing/2014/main" xmlns="" id="{07EF7E6E-B458-4812-867D-99D46402A55A}"/>
              </a:ext>
            </a:extLst>
          </p:cNvPr>
          <p:cNvSpPr>
            <a:spLocks noGrp="1"/>
          </p:cNvSpPr>
          <p:nvPr/>
        </p:nvSpPr>
        <p:spPr>
          <a:xfrm>
            <a:off x="6400800" y="537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F3B33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3B33D"/>
                </a:solidFill>
                <a:latin typeface="Calibri"/>
                <a:ea typeface="Calibri"/>
                <a:cs typeface="Calibri"/>
              </a:rPr>
              <a:t>T6</a:t>
            </a:r>
          </a:p>
        </p:txBody>
      </p:sp>
      <p:sp>
        <p:nvSpPr>
          <p:cNvPr id="41" name="threats-text-5">
            <a:extLst>
              <a:ext uri="{FF2B5EF4-FFF2-40B4-BE49-F238E27FC236}">
                <a16:creationId xmlns:a16="http://schemas.microsoft.com/office/drawing/2014/main" xmlns="" id="{F9DCCCE6-19A2-4987-90D5-4FCF7B111B21}"/>
              </a:ext>
            </a:extLst>
          </p:cNvPr>
          <p:cNvSpPr>
            <a:spLocks noGrp="1"/>
          </p:cNvSpPr>
          <p:nvPr/>
        </p:nvSpPr>
        <p:spPr>
          <a:xfrm>
            <a:off x="6896100" y="5375275"/>
            <a:ext cx="4419600" cy="56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Escopo excessivo pode atrasar a validação comercial.</a:t>
            </a:r>
          </a:p>
        </p:txBody>
      </p:sp>
      <p:sp>
        <p:nvSpPr>
          <p:cNvPr id="42" name="footer-rule-5">
            <a:extLst>
              <a:ext uri="{FF2B5EF4-FFF2-40B4-BE49-F238E27FC236}">
                <a16:creationId xmlns:a16="http://schemas.microsoft.com/office/drawing/2014/main" xmlns="" id="{C49A7F0F-DB66-4A36-9A8D-FC35A308EFE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43" name="footer-brand-5">
            <a:extLst>
              <a:ext uri="{FF2B5EF4-FFF2-40B4-BE49-F238E27FC236}">
                <a16:creationId xmlns:a16="http://schemas.microsoft.com/office/drawing/2014/main" xmlns="" id="{682D8F2F-78C9-46B9-802E-14042B64F00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GESTORIA  ·  ANÁLISE DE AMBIENTES</a:t>
            </a:r>
          </a:p>
        </p:txBody>
      </p:sp>
      <p:sp>
        <p:nvSpPr>
          <p:cNvPr id="44" name="footer-page-5">
            <a:extLst>
              <a:ext uri="{FF2B5EF4-FFF2-40B4-BE49-F238E27FC236}">
                <a16:creationId xmlns:a16="http://schemas.microsoft.com/office/drawing/2014/main" xmlns="" id="{BAFEB7FF-DAD4-4E09-B9C8-0ECD0E4506A6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lnSpc>
                <a:spcPct val="100000"/>
              </a:lnSpc>
              <a:buNone/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xmlns="" val="1766965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tratégias FO-eyebrow">
            <a:extLst>
              <a:ext uri="{FF2B5EF4-FFF2-40B4-BE49-F238E27FC236}">
                <a16:creationId xmlns:a16="http://schemas.microsoft.com/office/drawing/2014/main" xmlns="" id="{5741CB1E-355B-4C43-81EE-040D2A530E8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ESTRATÉGIAS FO</a:t>
            </a:r>
          </a:p>
        </p:txBody>
      </p:sp>
      <p:sp>
        <p:nvSpPr>
          <p:cNvPr id="2" name="estratégias FO-title">
            <a:extLst>
              <a:ext uri="{FF2B5EF4-FFF2-40B4-BE49-F238E27FC236}">
                <a16:creationId xmlns:a16="http://schemas.microsoft.com/office/drawing/2014/main" xmlns="" id="{C87FFC9C-677F-49C6-836D-5F5796246A1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Forças que ampliam oportunidades</a:t>
            </a:r>
          </a:p>
        </p:txBody>
      </p:sp>
      <p:sp>
        <p:nvSpPr>
          <p:cNvPr id="3" name="estratégias FO-subtitle">
            <a:extLst>
              <a:ext uri="{FF2B5EF4-FFF2-40B4-BE49-F238E27FC236}">
                <a16:creationId xmlns:a16="http://schemas.microsoft.com/office/drawing/2014/main" xmlns="" id="{FE62AD14-7371-41BC-A631-9AA38616AB7A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B9C8DC"/>
                </a:solidFill>
                <a:latin typeface="Calibri"/>
                <a:ea typeface="Calibri"/>
                <a:cs typeface="Calibri"/>
              </a:rPr>
              <a:t>As estratégias FO usam capacidades já construídas para desenvolver o mercado.</a:t>
            </a:r>
          </a:p>
        </p:txBody>
      </p:sp>
      <p:sp>
        <p:nvSpPr>
          <p:cNvPr id="4" name="fo-code-0">
            <a:extLst>
              <a:ext uri="{FF2B5EF4-FFF2-40B4-BE49-F238E27FC236}">
                <a16:creationId xmlns:a16="http://schemas.microsoft.com/office/drawing/2014/main" xmlns="" id="{C90426F2-5689-4956-8BFC-A01DDFF85AD7}"/>
              </a:ext>
            </a:extLst>
          </p:cNvPr>
          <p:cNvSpPr>
            <a:spLocks noGrp="1"/>
          </p:cNvSpPr>
          <p:nvPr/>
        </p:nvSpPr>
        <p:spPr>
          <a:xfrm>
            <a:off x="876300" y="20859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FO1</a:t>
            </a:r>
          </a:p>
        </p:txBody>
      </p:sp>
      <p:sp>
        <p:nvSpPr>
          <p:cNvPr id="5" name="fo-cross-0">
            <a:extLst>
              <a:ext uri="{FF2B5EF4-FFF2-40B4-BE49-F238E27FC236}">
                <a16:creationId xmlns:a16="http://schemas.microsoft.com/office/drawing/2014/main" xmlns="" id="{364B2617-CDD9-40D9-93BA-FC39C86B16EA}"/>
              </a:ext>
            </a:extLst>
          </p:cNvPr>
          <p:cNvSpPr>
            <a:spLocks noGrp="1"/>
          </p:cNvSpPr>
          <p:nvPr/>
        </p:nvSpPr>
        <p:spPr>
          <a:xfrm>
            <a:off x="1733550" y="21050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8FA2BC"/>
                </a:solidFill>
                <a:latin typeface="Calibri"/>
                <a:ea typeface="Calibri"/>
                <a:cs typeface="Calibri"/>
              </a:rPr>
              <a:t>F5 + O2</a:t>
            </a:r>
          </a:p>
        </p:txBody>
      </p:sp>
      <p:sp>
        <p:nvSpPr>
          <p:cNvPr id="6" name="fo-text-0">
            <a:extLst>
              <a:ext uri="{FF2B5EF4-FFF2-40B4-BE49-F238E27FC236}">
                <a16:creationId xmlns:a16="http://schemas.microsoft.com/office/drawing/2014/main" xmlns="" id="{CEF4315A-48F8-4B7A-AFDE-645067B3A4AD}"/>
              </a:ext>
            </a:extLst>
          </p:cNvPr>
          <p:cNvSpPr>
            <a:spLocks noGrp="1"/>
          </p:cNvSpPr>
          <p:nvPr/>
        </p:nvSpPr>
        <p:spPr>
          <a:xfrm>
            <a:off x="1733550" y="2362200"/>
            <a:ext cx="958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Validar painel, alertas, pedidos, Financeiro e Produtos com gestores que trabalham fora do estabelecimento.</a:t>
            </a:r>
          </a:p>
        </p:txBody>
      </p:sp>
      <p:sp>
        <p:nvSpPr>
          <p:cNvPr id="7" name="fo-line-0">
            <a:extLst>
              <a:ext uri="{FF2B5EF4-FFF2-40B4-BE49-F238E27FC236}">
                <a16:creationId xmlns:a16="http://schemas.microsoft.com/office/drawing/2014/main" xmlns="" id="{C515230B-3C16-4839-906F-A8ECA5E4FD55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104394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 w="0">
            <a:noFill/>
            <a:prstDash val="solid"/>
          </a:ln>
        </p:spPr>
      </p:sp>
      <p:sp>
        <p:nvSpPr>
          <p:cNvPr id="8" name="fo-code-1">
            <a:extLst>
              <a:ext uri="{FF2B5EF4-FFF2-40B4-BE49-F238E27FC236}">
                <a16:creationId xmlns:a16="http://schemas.microsoft.com/office/drawing/2014/main" xmlns="" id="{FBE1E7E9-830F-4B31-BF7A-7B6EDF0ECD54}"/>
              </a:ext>
            </a:extLst>
          </p:cNvPr>
          <p:cNvSpPr>
            <a:spLocks noGrp="1"/>
          </p:cNvSpPr>
          <p:nvPr/>
        </p:nvSpPr>
        <p:spPr>
          <a:xfrm>
            <a:off x="876300" y="31146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FO2</a:t>
            </a:r>
          </a:p>
        </p:txBody>
      </p:sp>
      <p:sp>
        <p:nvSpPr>
          <p:cNvPr id="9" name="fo-cross-1">
            <a:extLst>
              <a:ext uri="{FF2B5EF4-FFF2-40B4-BE49-F238E27FC236}">
                <a16:creationId xmlns:a16="http://schemas.microsoft.com/office/drawing/2014/main" xmlns="" id="{E20902C1-D3A5-41E4-A695-96EF7119E47E}"/>
              </a:ext>
            </a:extLst>
          </p:cNvPr>
          <p:cNvSpPr>
            <a:spLocks noGrp="1"/>
          </p:cNvSpPr>
          <p:nvPr/>
        </p:nvSpPr>
        <p:spPr>
          <a:xfrm>
            <a:off x="1733550" y="31337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8FA2BC"/>
                </a:solidFill>
                <a:latin typeface="Calibri"/>
                <a:ea typeface="Calibri"/>
                <a:cs typeface="Calibri"/>
              </a:rPr>
              <a:t>F4 + O5</a:t>
            </a:r>
          </a:p>
        </p:txBody>
      </p:sp>
      <p:sp>
        <p:nvSpPr>
          <p:cNvPr id="10" name="fo-text-1">
            <a:extLst>
              <a:ext uri="{FF2B5EF4-FFF2-40B4-BE49-F238E27FC236}">
                <a16:creationId xmlns:a16="http://schemas.microsoft.com/office/drawing/2014/main" xmlns="" id="{CCE582AD-7D89-4BCA-BAA8-0DC3EADD0C30}"/>
              </a:ext>
            </a:extLst>
          </p:cNvPr>
          <p:cNvSpPr>
            <a:spLocks noGrp="1"/>
          </p:cNvSpPr>
          <p:nvPr/>
        </p:nvSpPr>
        <p:spPr>
          <a:xfrm>
            <a:off x="1733550" y="3390900"/>
            <a:ext cx="958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5DFEC"/>
                </a:solidFill>
                <a:latin typeface="Calibri"/>
                <a:ea typeface="Calibri"/>
                <a:cs typeface="Calibri"/>
              </a:rPr>
              <a:t>Criar uma proposta inicial para negócios que dependem de pedidos, produção e estoque.</a:t>
            </a:r>
          </a:p>
        </p:txBody>
      </p:sp>
      <p:sp>
        <p:nvSpPr>
          <p:cNvPr id="11" name="fo-line-1">
            <a:extLst>
              <a:ext uri="{FF2B5EF4-FFF2-40B4-BE49-F238E27FC236}">
                <a16:creationId xmlns:a16="http://schemas.microsoft.com/office/drawing/2014/main" xmlns="" id="{7D0BDA0B-D888-4BE7-83F3-9B02EFF1AD18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104394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 w="0">
            <a:noFill/>
            <a:prstDash val="solid"/>
          </a:ln>
        </p:spPr>
      </p:sp>
      <p:sp>
        <p:nvSpPr>
          <p:cNvPr id="12" name="fo-code-2">
            <a:extLst>
              <a:ext uri="{FF2B5EF4-FFF2-40B4-BE49-F238E27FC236}">
                <a16:creationId xmlns:a16="http://schemas.microsoft.com/office/drawing/2014/main" xmlns="" id="{50E1F3F0-BD5E-413D-94D6-464873F453FC}"/>
              </a:ext>
            </a:extLst>
          </p:cNvPr>
          <p:cNvSpPr>
            <a:spLocks noGrp="1"/>
          </p:cNvSpPr>
          <p:nvPr/>
        </p:nvSpPr>
        <p:spPr>
          <a:xfrm>
            <a:off x="876300" y="41433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FO3</a:t>
            </a:r>
          </a:p>
        </p:txBody>
      </p:sp>
      <p:sp>
        <p:nvSpPr>
          <p:cNvPr id="13" name="fo-cross-2">
            <a:extLst>
              <a:ext uri="{FF2B5EF4-FFF2-40B4-BE49-F238E27FC236}">
                <a16:creationId xmlns:a16="http://schemas.microsoft.com/office/drawing/2014/main" xmlns="" id="{B228F302-2C3D-4930-B6EE-C50CFB52D794}"/>
              </a:ext>
            </a:extLst>
          </p:cNvPr>
          <p:cNvSpPr>
            <a:spLocks noGrp="1"/>
          </p:cNvSpPr>
          <p:nvPr/>
        </p:nvSpPr>
        <p:spPr>
          <a:xfrm>
            <a:off x="1733550" y="41624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8FA2BC"/>
                </a:solidFill>
                <a:latin typeface="Calibri"/>
                <a:ea typeface="Calibri"/>
                <a:cs typeface="Calibri"/>
              </a:rPr>
              <a:t>F3 + O6</a:t>
            </a:r>
          </a:p>
        </p:txBody>
      </p:sp>
      <p:sp>
        <p:nvSpPr>
          <p:cNvPr id="14" name="fo-text-2">
            <a:extLst>
              <a:ext uri="{FF2B5EF4-FFF2-40B4-BE49-F238E27FC236}">
                <a16:creationId xmlns:a16="http://schemas.microsoft.com/office/drawing/2014/main" xmlns="" id="{2108F3D4-082F-45D5-ABFD-5F70741DCF85}"/>
              </a:ext>
            </a:extLst>
          </p:cNvPr>
          <p:cNvSpPr>
            <a:spLocks noGrp="1"/>
          </p:cNvSpPr>
          <p:nvPr/>
        </p:nvSpPr>
        <p:spPr>
          <a:xfrm>
            <a:off x="1733550" y="4419600"/>
            <a:ext cx="958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5DFEC"/>
                </a:solidFill>
                <a:latin typeface="Calibri"/>
                <a:ea typeface="Calibri"/>
                <a:cs typeface="Calibri"/>
              </a:rPr>
              <a:t>Evoluir o Copiloto com ferramentas permitidas, confirmação de ações e trilha de auditoria.</a:t>
            </a:r>
          </a:p>
        </p:txBody>
      </p:sp>
      <p:sp>
        <p:nvSpPr>
          <p:cNvPr id="15" name="fo-line-2">
            <a:extLst>
              <a:ext uri="{FF2B5EF4-FFF2-40B4-BE49-F238E27FC236}">
                <a16:creationId xmlns:a16="http://schemas.microsoft.com/office/drawing/2014/main" xmlns="" id="{99C02739-83D4-47D9-91BF-4A16F2C8FEA5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104394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 w="0">
            <a:noFill/>
            <a:prstDash val="solid"/>
          </a:ln>
        </p:spPr>
      </p:sp>
      <p:sp>
        <p:nvSpPr>
          <p:cNvPr id="16" name="fo-code-3">
            <a:extLst>
              <a:ext uri="{FF2B5EF4-FFF2-40B4-BE49-F238E27FC236}">
                <a16:creationId xmlns:a16="http://schemas.microsoft.com/office/drawing/2014/main" xmlns="" id="{C57561F0-0D5D-403E-9C1B-391B930C36A1}"/>
              </a:ext>
            </a:extLst>
          </p:cNvPr>
          <p:cNvSpPr>
            <a:spLocks noGrp="1"/>
          </p:cNvSpPr>
          <p:nvPr/>
        </p:nvSpPr>
        <p:spPr>
          <a:xfrm>
            <a:off x="876300" y="51720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FO4</a:t>
            </a:r>
          </a:p>
        </p:txBody>
      </p:sp>
      <p:sp>
        <p:nvSpPr>
          <p:cNvPr id="17" name="fo-cross-3">
            <a:extLst>
              <a:ext uri="{FF2B5EF4-FFF2-40B4-BE49-F238E27FC236}">
                <a16:creationId xmlns:a16="http://schemas.microsoft.com/office/drawing/2014/main" xmlns="" id="{4EB922AE-4555-45F4-B548-ED847A4D8A91}"/>
              </a:ext>
            </a:extLst>
          </p:cNvPr>
          <p:cNvSpPr>
            <a:spLocks noGrp="1"/>
          </p:cNvSpPr>
          <p:nvPr/>
        </p:nvSpPr>
        <p:spPr>
          <a:xfrm>
            <a:off x="1733550" y="51911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8FA2BC"/>
                </a:solidFill>
                <a:latin typeface="Calibri"/>
                <a:ea typeface="Calibri"/>
                <a:cs typeface="Calibri"/>
              </a:rPr>
              <a:t>F2 + F4 + O4</a:t>
            </a:r>
          </a:p>
        </p:txBody>
      </p:sp>
      <p:sp>
        <p:nvSpPr>
          <p:cNvPr id="18" name="fo-text-3">
            <a:extLst>
              <a:ext uri="{FF2B5EF4-FFF2-40B4-BE49-F238E27FC236}">
                <a16:creationId xmlns:a16="http://schemas.microsoft.com/office/drawing/2014/main" xmlns="" id="{0939AC01-F569-411B-83C0-2BDB3048F453}"/>
              </a:ext>
            </a:extLst>
          </p:cNvPr>
          <p:cNvSpPr>
            <a:spLocks noGrp="1"/>
          </p:cNvSpPr>
          <p:nvPr/>
        </p:nvSpPr>
        <p:spPr>
          <a:xfrm>
            <a:off x="1733550" y="5448300"/>
            <a:ext cx="958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5DFEC"/>
                </a:solidFill>
                <a:latin typeface="Calibri"/>
                <a:ea typeface="Calibri"/>
                <a:cs typeface="Calibri"/>
              </a:rPr>
              <a:t>Organizar funcionalidades por planos sem duplicar regras ou fragmentar a arquitetura.</a:t>
            </a:r>
          </a:p>
        </p:txBody>
      </p:sp>
      <p:sp>
        <p:nvSpPr>
          <p:cNvPr id="19" name="footer-rule-6">
            <a:extLst>
              <a:ext uri="{FF2B5EF4-FFF2-40B4-BE49-F238E27FC236}">
                <a16:creationId xmlns:a16="http://schemas.microsoft.com/office/drawing/2014/main" xmlns="" id="{FD9721AF-4193-42F4-9048-16F2B571B28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 w="0">
            <a:noFill/>
            <a:prstDash val="solid"/>
          </a:ln>
        </p:spPr>
      </p:sp>
      <p:sp>
        <p:nvSpPr>
          <p:cNvPr id="20" name="footer-brand-6">
            <a:extLst>
              <a:ext uri="{FF2B5EF4-FFF2-40B4-BE49-F238E27FC236}">
                <a16:creationId xmlns:a16="http://schemas.microsoft.com/office/drawing/2014/main" xmlns="" id="{76742284-F016-48B8-96BC-54ED745E475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defPPr>
            <a:lvl1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8FA2BC"/>
                </a:solidFill>
                <a:latin typeface="Calibri"/>
                <a:ea typeface="Calibri"/>
                <a:cs typeface="Calibri"/>
              </a:rPr>
              <a:t>GESTORIA  ·  ANÁLISE DE AMBIENTES</a:t>
            </a:r>
          </a:p>
        </p:txBody>
      </p:sp>
      <p:sp>
        <p:nvSpPr>
          <p:cNvPr id="21" name="footer-page-6">
            <a:extLst>
              <a:ext uri="{FF2B5EF4-FFF2-40B4-BE49-F238E27FC236}">
                <a16:creationId xmlns:a16="http://schemas.microsoft.com/office/drawing/2014/main" xmlns="" id="{9D7580A1-3451-4798-9143-8EF19AC0CF3D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defPPr>
            <a:lvl1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1pPr>
            <a:lvl2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2pPr>
            <a:lvl3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3pPr>
            <a:lvl4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4pPr>
            <a:lvl5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5pPr>
            <a:lvl6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6pPr>
            <a:lvl7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7pPr>
            <a:lvl8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8pPr>
            <a:lvl9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lnSpc>
                <a:spcPct val="100000"/>
              </a:lnSpc>
              <a:buNone/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8FA2BC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xmlns="" val="739494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tratégias FA-eyebrow">
            <a:extLst>
              <a:ext uri="{FF2B5EF4-FFF2-40B4-BE49-F238E27FC236}">
                <a16:creationId xmlns:a16="http://schemas.microsoft.com/office/drawing/2014/main" xmlns="" id="{1798FCA2-4C27-416C-B41E-C3A1F20714F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ESTRATÉGIAS FA</a:t>
            </a:r>
          </a:p>
        </p:txBody>
      </p:sp>
      <p:sp>
        <p:nvSpPr>
          <p:cNvPr id="2" name="estratégias FA-title">
            <a:extLst>
              <a:ext uri="{FF2B5EF4-FFF2-40B4-BE49-F238E27FC236}">
                <a16:creationId xmlns:a16="http://schemas.microsoft.com/office/drawing/2014/main" xmlns="" id="{6A2C9FCB-44D7-4DF7-8D66-8BD96BE08AE8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Forças que reduzem ameaças</a:t>
            </a:r>
          </a:p>
        </p:txBody>
      </p:sp>
      <p:sp>
        <p:nvSpPr>
          <p:cNvPr id="3" name="estratégias FA-subtitle">
            <a:extLst>
              <a:ext uri="{FF2B5EF4-FFF2-40B4-BE49-F238E27FC236}">
                <a16:creationId xmlns:a16="http://schemas.microsoft.com/office/drawing/2014/main" xmlns="" id="{DC04ACF8-8B33-4465-B692-B3DEEDCF8C7E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As estratégias FA preservam confiança, qualidade e foco diante dos riscos externos.</a:t>
            </a:r>
          </a:p>
        </p:txBody>
      </p:sp>
      <p:sp>
        <p:nvSpPr>
          <p:cNvPr id="4" name="fa-code-0">
            <a:extLst>
              <a:ext uri="{FF2B5EF4-FFF2-40B4-BE49-F238E27FC236}">
                <a16:creationId xmlns:a16="http://schemas.microsoft.com/office/drawing/2014/main" xmlns="" id="{149507BA-A558-4688-999B-CAA0726874CE}"/>
              </a:ext>
            </a:extLst>
          </p:cNvPr>
          <p:cNvSpPr>
            <a:spLocks noGrp="1"/>
          </p:cNvSpPr>
          <p:nvPr/>
        </p:nvSpPr>
        <p:spPr>
          <a:xfrm>
            <a:off x="876300" y="20859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FA1</a:t>
            </a:r>
          </a:p>
        </p:txBody>
      </p:sp>
      <p:sp>
        <p:nvSpPr>
          <p:cNvPr id="5" name="fa-cross-0">
            <a:extLst>
              <a:ext uri="{FF2B5EF4-FFF2-40B4-BE49-F238E27FC236}">
                <a16:creationId xmlns:a16="http://schemas.microsoft.com/office/drawing/2014/main" xmlns="" id="{FA9859D7-7CE7-4BD8-9DBB-5BA3119B3464}"/>
              </a:ext>
            </a:extLst>
          </p:cNvPr>
          <p:cNvSpPr>
            <a:spLocks noGrp="1"/>
          </p:cNvSpPr>
          <p:nvPr/>
        </p:nvSpPr>
        <p:spPr>
          <a:xfrm>
            <a:off x="1733550" y="21050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F3 + T3</a:t>
            </a:r>
          </a:p>
        </p:txBody>
      </p:sp>
      <p:sp>
        <p:nvSpPr>
          <p:cNvPr id="6" name="fa-text-0">
            <a:extLst>
              <a:ext uri="{FF2B5EF4-FFF2-40B4-BE49-F238E27FC236}">
                <a16:creationId xmlns:a16="http://schemas.microsoft.com/office/drawing/2014/main" xmlns="" id="{AF6D27AB-C841-4E0A-9D48-0B57341643F7}"/>
              </a:ext>
            </a:extLst>
          </p:cNvPr>
          <p:cNvSpPr>
            <a:spLocks noGrp="1"/>
          </p:cNvSpPr>
          <p:nvPr/>
        </p:nvSpPr>
        <p:spPr>
          <a:xfrm>
            <a:off x="1733550" y="2362200"/>
            <a:ext cx="958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Tratar isolamento por empresa, auditoria e confirmação de ações como elementos centrais de confiança.</a:t>
            </a:r>
          </a:p>
        </p:txBody>
      </p:sp>
      <p:sp>
        <p:nvSpPr>
          <p:cNvPr id="7" name="fa-line-0">
            <a:extLst>
              <a:ext uri="{FF2B5EF4-FFF2-40B4-BE49-F238E27FC236}">
                <a16:creationId xmlns:a16="http://schemas.microsoft.com/office/drawing/2014/main" xmlns="" id="{B409C619-1E3D-4E68-93EC-8D703207A82A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1043940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8" name="fa-code-1">
            <a:extLst>
              <a:ext uri="{FF2B5EF4-FFF2-40B4-BE49-F238E27FC236}">
                <a16:creationId xmlns:a16="http://schemas.microsoft.com/office/drawing/2014/main" xmlns="" id="{2D9325F1-4483-45D7-8D74-55E7C834ACA7}"/>
              </a:ext>
            </a:extLst>
          </p:cNvPr>
          <p:cNvSpPr>
            <a:spLocks noGrp="1"/>
          </p:cNvSpPr>
          <p:nvPr/>
        </p:nvSpPr>
        <p:spPr>
          <a:xfrm>
            <a:off x="876300" y="31146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FA2</a:t>
            </a:r>
          </a:p>
        </p:txBody>
      </p:sp>
      <p:sp>
        <p:nvSpPr>
          <p:cNvPr id="9" name="fa-cross-1">
            <a:extLst>
              <a:ext uri="{FF2B5EF4-FFF2-40B4-BE49-F238E27FC236}">
                <a16:creationId xmlns:a16="http://schemas.microsoft.com/office/drawing/2014/main" xmlns="" id="{C2C4572B-42A5-4A3D-8230-EA96B665B426}"/>
              </a:ext>
            </a:extLst>
          </p:cNvPr>
          <p:cNvSpPr>
            <a:spLocks noGrp="1"/>
          </p:cNvSpPr>
          <p:nvPr/>
        </p:nvSpPr>
        <p:spPr>
          <a:xfrm>
            <a:off x="1733550" y="31337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F2 + F6 + T2</a:t>
            </a:r>
          </a:p>
        </p:txBody>
      </p:sp>
      <p:sp>
        <p:nvSpPr>
          <p:cNvPr id="10" name="fa-text-1">
            <a:extLst>
              <a:ext uri="{FF2B5EF4-FFF2-40B4-BE49-F238E27FC236}">
                <a16:creationId xmlns:a16="http://schemas.microsoft.com/office/drawing/2014/main" xmlns="" id="{52C03969-ED5F-42CA-83CE-9EEAB7F62D05}"/>
              </a:ext>
            </a:extLst>
          </p:cNvPr>
          <p:cNvSpPr>
            <a:spLocks noGrp="1"/>
          </p:cNvSpPr>
          <p:nvPr/>
        </p:nvSpPr>
        <p:spPr>
          <a:xfrm>
            <a:off x="1733550" y="3390900"/>
            <a:ext cx="958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Manter regras fiscais e regulatórias isoladas em serviços e protegidas por testes.</a:t>
            </a:r>
          </a:p>
        </p:txBody>
      </p:sp>
      <p:sp>
        <p:nvSpPr>
          <p:cNvPr id="11" name="fa-line-1">
            <a:extLst>
              <a:ext uri="{FF2B5EF4-FFF2-40B4-BE49-F238E27FC236}">
                <a16:creationId xmlns:a16="http://schemas.microsoft.com/office/drawing/2014/main" xmlns="" id="{6FC10306-FE33-440F-A88A-937088C51E54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1043940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12" name="fa-code-2">
            <a:extLst>
              <a:ext uri="{FF2B5EF4-FFF2-40B4-BE49-F238E27FC236}">
                <a16:creationId xmlns:a16="http://schemas.microsoft.com/office/drawing/2014/main" xmlns="" id="{05803FCF-8421-4223-A2E5-E7EAFADC2A65}"/>
              </a:ext>
            </a:extLst>
          </p:cNvPr>
          <p:cNvSpPr>
            <a:spLocks noGrp="1"/>
          </p:cNvSpPr>
          <p:nvPr/>
        </p:nvSpPr>
        <p:spPr>
          <a:xfrm>
            <a:off x="876300" y="41433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FA3</a:t>
            </a:r>
          </a:p>
        </p:txBody>
      </p:sp>
      <p:sp>
        <p:nvSpPr>
          <p:cNvPr id="13" name="fa-cross-2">
            <a:extLst>
              <a:ext uri="{FF2B5EF4-FFF2-40B4-BE49-F238E27FC236}">
                <a16:creationId xmlns:a16="http://schemas.microsoft.com/office/drawing/2014/main" xmlns="" id="{7C8A06A9-4A6D-4E34-B3B4-91BFCB2CEAA7}"/>
              </a:ext>
            </a:extLst>
          </p:cNvPr>
          <p:cNvSpPr>
            <a:spLocks noGrp="1"/>
          </p:cNvSpPr>
          <p:nvPr/>
        </p:nvSpPr>
        <p:spPr>
          <a:xfrm>
            <a:off x="1733550" y="41624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F5 + T1</a:t>
            </a:r>
          </a:p>
        </p:txBody>
      </p:sp>
      <p:sp>
        <p:nvSpPr>
          <p:cNvPr id="14" name="fa-text-2">
            <a:extLst>
              <a:ext uri="{FF2B5EF4-FFF2-40B4-BE49-F238E27FC236}">
                <a16:creationId xmlns:a16="http://schemas.microsoft.com/office/drawing/2014/main" xmlns="" id="{71F524DE-C175-4358-BCE6-97D756F94A6A}"/>
              </a:ext>
            </a:extLst>
          </p:cNvPr>
          <p:cNvSpPr>
            <a:spLocks noGrp="1"/>
          </p:cNvSpPr>
          <p:nvPr/>
        </p:nvSpPr>
        <p:spPr>
          <a:xfrm>
            <a:off x="1733550" y="4419600"/>
            <a:ext cx="958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Diferenciar o GestorIA pela experiência mobile orientada a decisões e prioridades.</a:t>
            </a:r>
          </a:p>
        </p:txBody>
      </p:sp>
      <p:sp>
        <p:nvSpPr>
          <p:cNvPr id="15" name="fa-line-2">
            <a:extLst>
              <a:ext uri="{FF2B5EF4-FFF2-40B4-BE49-F238E27FC236}">
                <a16:creationId xmlns:a16="http://schemas.microsoft.com/office/drawing/2014/main" xmlns="" id="{A4C923DF-6721-4055-BC50-4AB6414EFB32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1043940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16" name="fa-code-3">
            <a:extLst>
              <a:ext uri="{FF2B5EF4-FFF2-40B4-BE49-F238E27FC236}">
                <a16:creationId xmlns:a16="http://schemas.microsoft.com/office/drawing/2014/main" xmlns="" id="{BC8FCA69-81D6-4988-9C4C-B742190A2C32}"/>
              </a:ext>
            </a:extLst>
          </p:cNvPr>
          <p:cNvSpPr>
            <a:spLocks noGrp="1"/>
          </p:cNvSpPr>
          <p:nvPr/>
        </p:nvSpPr>
        <p:spPr>
          <a:xfrm>
            <a:off x="876300" y="517207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FA4</a:t>
            </a:r>
          </a:p>
        </p:txBody>
      </p:sp>
      <p:sp>
        <p:nvSpPr>
          <p:cNvPr id="17" name="fa-cross-3">
            <a:extLst>
              <a:ext uri="{FF2B5EF4-FFF2-40B4-BE49-F238E27FC236}">
                <a16:creationId xmlns:a16="http://schemas.microsoft.com/office/drawing/2014/main" xmlns="" id="{EB1115BA-3C51-43A3-A2FB-DD5A5828969B}"/>
              </a:ext>
            </a:extLst>
          </p:cNvPr>
          <p:cNvSpPr>
            <a:spLocks noGrp="1"/>
          </p:cNvSpPr>
          <p:nvPr/>
        </p:nvSpPr>
        <p:spPr>
          <a:xfrm>
            <a:off x="1733550" y="51911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F6 + T6</a:t>
            </a:r>
          </a:p>
        </p:txBody>
      </p:sp>
      <p:sp>
        <p:nvSpPr>
          <p:cNvPr id="18" name="fa-text-3">
            <a:extLst>
              <a:ext uri="{FF2B5EF4-FFF2-40B4-BE49-F238E27FC236}">
                <a16:creationId xmlns:a16="http://schemas.microsoft.com/office/drawing/2014/main" xmlns="" id="{03F3CEA7-7588-4C90-BA4D-581F5F41857D}"/>
              </a:ext>
            </a:extLst>
          </p:cNvPr>
          <p:cNvSpPr>
            <a:spLocks noGrp="1"/>
          </p:cNvSpPr>
          <p:nvPr/>
        </p:nvSpPr>
        <p:spPr>
          <a:xfrm>
            <a:off x="1733550" y="5448300"/>
            <a:ext cx="958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Exigir testes, revisão e documentação para conter regressões e crescimento descontrolado do escopo.</a:t>
            </a:r>
          </a:p>
        </p:txBody>
      </p:sp>
      <p:sp>
        <p:nvSpPr>
          <p:cNvPr id="19" name="footer-rule-7">
            <a:extLst>
              <a:ext uri="{FF2B5EF4-FFF2-40B4-BE49-F238E27FC236}">
                <a16:creationId xmlns:a16="http://schemas.microsoft.com/office/drawing/2014/main" xmlns="" id="{44F32ABF-E82E-4F4A-BBC4-09DBE0F3342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20" name="footer-brand-7">
            <a:extLst>
              <a:ext uri="{FF2B5EF4-FFF2-40B4-BE49-F238E27FC236}">
                <a16:creationId xmlns:a16="http://schemas.microsoft.com/office/drawing/2014/main" xmlns="" id="{E72C0F41-BA4E-4FB3-AAF0-9D3BE46D7DC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GESTORIA  ·  ANÁLISE DE AMBIENTES</a:t>
            </a:r>
          </a:p>
        </p:txBody>
      </p:sp>
      <p:sp>
        <p:nvSpPr>
          <p:cNvPr id="21" name="footer-page-7">
            <a:extLst>
              <a:ext uri="{FF2B5EF4-FFF2-40B4-BE49-F238E27FC236}">
                <a16:creationId xmlns:a16="http://schemas.microsoft.com/office/drawing/2014/main" xmlns="" id="{E9F209B3-4399-4B0E-8F3B-97F935FD2E9A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lnSpc>
                <a:spcPct val="100000"/>
              </a:lnSpc>
              <a:buNone/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xmlns="" val="1424513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stratégias DO e DA-eyebrow">
            <a:extLst>
              <a:ext uri="{FF2B5EF4-FFF2-40B4-BE49-F238E27FC236}">
                <a16:creationId xmlns:a16="http://schemas.microsoft.com/office/drawing/2014/main" xmlns="" id="{E9E2D644-98DA-4390-9CC6-55CDB2DFC54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ESTRATÉGIAS DO E DA</a:t>
            </a:r>
          </a:p>
        </p:txBody>
      </p:sp>
      <p:sp>
        <p:nvSpPr>
          <p:cNvPr id="2" name="estratégias DO e DA-title">
            <a:extLst>
              <a:ext uri="{FF2B5EF4-FFF2-40B4-BE49-F238E27FC236}">
                <a16:creationId xmlns:a16="http://schemas.microsoft.com/office/drawing/2014/main" xmlns="" id="{C10D85C7-67C6-4843-95DD-0ABD44DA1973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Crescimento e proteção</a:t>
            </a:r>
          </a:p>
        </p:txBody>
      </p:sp>
      <p:sp>
        <p:nvSpPr>
          <p:cNvPr id="3" name="estratégias DO e DA-subtitle">
            <a:extLst>
              <a:ext uri="{FF2B5EF4-FFF2-40B4-BE49-F238E27FC236}">
                <a16:creationId xmlns:a16="http://schemas.microsoft.com/office/drawing/2014/main" xmlns="" id="{C069751C-1E4B-459A-A7E2-FDA5E4E54E37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As ações reduzem limitações internas enquanto aproveitam oportunidades e controlam riscos.</a:t>
            </a:r>
          </a:p>
        </p:txBody>
      </p:sp>
      <p:sp>
        <p:nvSpPr>
          <p:cNvPr id="4" name="do-title">
            <a:extLst>
              <a:ext uri="{FF2B5EF4-FFF2-40B4-BE49-F238E27FC236}">
                <a16:creationId xmlns:a16="http://schemas.microsoft.com/office/drawing/2014/main" xmlns="" id="{7DA73A59-358E-40DA-BE0C-A896BF01113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9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DO  ·  Crescimento</a:t>
            </a:r>
          </a:p>
        </p:txBody>
      </p:sp>
      <p:sp>
        <p:nvSpPr>
          <p:cNvPr id="5" name="do-code-0">
            <a:extLst>
              <a:ext uri="{FF2B5EF4-FFF2-40B4-BE49-F238E27FC236}">
                <a16:creationId xmlns:a16="http://schemas.microsoft.com/office/drawing/2014/main" xmlns="" id="{9540B606-ED5A-4EC3-85FA-E695C02901E1}"/>
              </a:ext>
            </a:extLst>
          </p:cNvPr>
          <p:cNvSpPr>
            <a:spLocks noGrp="1"/>
          </p:cNvSpPr>
          <p:nvPr/>
        </p:nvSpPr>
        <p:spPr>
          <a:xfrm>
            <a:off x="685800" y="237172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DO1</a:t>
            </a:r>
          </a:p>
        </p:txBody>
      </p:sp>
      <p:sp>
        <p:nvSpPr>
          <p:cNvPr id="6" name="do-cross-0">
            <a:extLst>
              <a:ext uri="{FF2B5EF4-FFF2-40B4-BE49-F238E27FC236}">
                <a16:creationId xmlns:a16="http://schemas.microsoft.com/office/drawing/2014/main" xmlns="" id="{5F8AB9A1-44F7-4F6F-B804-D9071E146EF7}"/>
              </a:ext>
            </a:extLst>
          </p:cNvPr>
          <p:cNvSpPr>
            <a:spLocks noGrp="1"/>
          </p:cNvSpPr>
          <p:nvPr/>
        </p:nvSpPr>
        <p:spPr>
          <a:xfrm>
            <a:off x="1543050" y="23907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W1 + O2</a:t>
            </a:r>
          </a:p>
        </p:txBody>
      </p:sp>
      <p:sp>
        <p:nvSpPr>
          <p:cNvPr id="7" name="do-text-0">
            <a:extLst>
              <a:ext uri="{FF2B5EF4-FFF2-40B4-BE49-F238E27FC236}">
                <a16:creationId xmlns:a16="http://schemas.microsoft.com/office/drawing/2014/main" xmlns="" id="{26C2E384-F970-42D4-931F-B76DBBFFDDD5}"/>
              </a:ext>
            </a:extLst>
          </p:cNvPr>
          <p:cNvSpPr>
            <a:spLocks noGrp="1"/>
          </p:cNvSpPr>
          <p:nvPr/>
        </p:nvSpPr>
        <p:spPr>
          <a:xfrm>
            <a:off x="1543050" y="2647950"/>
            <a:ext cx="4152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Priorizar clientes, orçamentos e produção/estoque no mobile.</a:t>
            </a:r>
          </a:p>
        </p:txBody>
      </p:sp>
      <p:sp>
        <p:nvSpPr>
          <p:cNvPr id="8" name="do-line-0">
            <a:extLst>
              <a:ext uri="{FF2B5EF4-FFF2-40B4-BE49-F238E27FC236}">
                <a16:creationId xmlns:a16="http://schemas.microsoft.com/office/drawing/2014/main" xmlns="" id="{849DCBCA-08E1-46B3-839C-7CCC83FC4EA7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501015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9" name="do-code-1">
            <a:extLst>
              <a:ext uri="{FF2B5EF4-FFF2-40B4-BE49-F238E27FC236}">
                <a16:creationId xmlns:a16="http://schemas.microsoft.com/office/drawing/2014/main" xmlns="" id="{8DAAEAC0-B31A-4BEC-8068-1AF525A02A03}"/>
              </a:ext>
            </a:extLst>
          </p:cNvPr>
          <p:cNvSpPr>
            <a:spLocks noGrp="1"/>
          </p:cNvSpPr>
          <p:nvPr/>
        </p:nvSpPr>
        <p:spPr>
          <a:xfrm>
            <a:off x="685800" y="340042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DO2</a:t>
            </a:r>
          </a:p>
        </p:txBody>
      </p:sp>
      <p:sp>
        <p:nvSpPr>
          <p:cNvPr id="10" name="do-cross-1">
            <a:extLst>
              <a:ext uri="{FF2B5EF4-FFF2-40B4-BE49-F238E27FC236}">
                <a16:creationId xmlns:a16="http://schemas.microsoft.com/office/drawing/2014/main" xmlns="" id="{972D24DE-8A3E-48D4-82DA-AA5AB9E34BF6}"/>
              </a:ext>
            </a:extLst>
          </p:cNvPr>
          <p:cNvSpPr>
            <a:spLocks noGrp="1"/>
          </p:cNvSpPr>
          <p:nvPr/>
        </p:nvSpPr>
        <p:spPr>
          <a:xfrm>
            <a:off x="1543050" y="34194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W3 + O4</a:t>
            </a:r>
          </a:p>
        </p:txBody>
      </p:sp>
      <p:sp>
        <p:nvSpPr>
          <p:cNvPr id="11" name="do-text-1">
            <a:extLst>
              <a:ext uri="{FF2B5EF4-FFF2-40B4-BE49-F238E27FC236}">
                <a16:creationId xmlns:a16="http://schemas.microsoft.com/office/drawing/2014/main" xmlns="" id="{B1C0D758-F692-4831-B807-4F6FF4F5777F}"/>
              </a:ext>
            </a:extLst>
          </p:cNvPr>
          <p:cNvSpPr>
            <a:spLocks noGrp="1"/>
          </p:cNvSpPr>
          <p:nvPr/>
        </p:nvSpPr>
        <p:spPr>
          <a:xfrm>
            <a:off x="1543050" y="3676650"/>
            <a:ext cx="4152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Avaliar provedores por custo, segurança, estabilidade e aderência aos planos.</a:t>
            </a:r>
          </a:p>
        </p:txBody>
      </p:sp>
      <p:sp>
        <p:nvSpPr>
          <p:cNvPr id="12" name="do-line-1">
            <a:extLst>
              <a:ext uri="{FF2B5EF4-FFF2-40B4-BE49-F238E27FC236}">
                <a16:creationId xmlns:a16="http://schemas.microsoft.com/office/drawing/2014/main" xmlns="" id="{1CB7AE0A-B62D-4F51-8909-C7DDC32559A2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501015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13" name="do-code-2">
            <a:extLst>
              <a:ext uri="{FF2B5EF4-FFF2-40B4-BE49-F238E27FC236}">
                <a16:creationId xmlns:a16="http://schemas.microsoft.com/office/drawing/2014/main" xmlns="" id="{047FD585-6B75-4228-903C-59B6919BD075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DO3</a:t>
            </a:r>
          </a:p>
        </p:txBody>
      </p:sp>
      <p:sp>
        <p:nvSpPr>
          <p:cNvPr id="14" name="do-cross-2">
            <a:extLst>
              <a:ext uri="{FF2B5EF4-FFF2-40B4-BE49-F238E27FC236}">
                <a16:creationId xmlns:a16="http://schemas.microsoft.com/office/drawing/2014/main" xmlns="" id="{AC53778D-5FF2-4322-B813-D0F463A2428C}"/>
              </a:ext>
            </a:extLst>
          </p:cNvPr>
          <p:cNvSpPr>
            <a:spLocks noGrp="1"/>
          </p:cNvSpPr>
          <p:nvPr/>
        </p:nvSpPr>
        <p:spPr>
          <a:xfrm>
            <a:off x="1543050" y="44481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W6 + O1 + O4</a:t>
            </a:r>
          </a:p>
        </p:txBody>
      </p:sp>
      <p:sp>
        <p:nvSpPr>
          <p:cNvPr id="15" name="do-text-2">
            <a:extLst>
              <a:ext uri="{FF2B5EF4-FFF2-40B4-BE49-F238E27FC236}">
                <a16:creationId xmlns:a16="http://schemas.microsoft.com/office/drawing/2014/main" xmlns="" id="{0E9CED96-A4D6-4D35-905D-FEB4A8DA9574}"/>
              </a:ext>
            </a:extLst>
          </p:cNvPr>
          <p:cNvSpPr>
            <a:spLocks noGrp="1"/>
          </p:cNvSpPr>
          <p:nvPr/>
        </p:nvSpPr>
        <p:spPr>
          <a:xfrm>
            <a:off x="1543050" y="4705350"/>
            <a:ext cx="4152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Conduzir pilotos para validar problema, usabilidade, preço e disposição de pagamento.</a:t>
            </a:r>
          </a:p>
        </p:txBody>
      </p:sp>
      <p:sp>
        <p:nvSpPr>
          <p:cNvPr id="16" name="do-line-2">
            <a:extLst>
              <a:ext uri="{FF2B5EF4-FFF2-40B4-BE49-F238E27FC236}">
                <a16:creationId xmlns:a16="http://schemas.microsoft.com/office/drawing/2014/main" xmlns="" id="{9F9D81DD-CE09-45B7-91FD-7FE63F33E521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501015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17" name="do-code-3">
            <a:extLst>
              <a:ext uri="{FF2B5EF4-FFF2-40B4-BE49-F238E27FC236}">
                <a16:creationId xmlns:a16="http://schemas.microsoft.com/office/drawing/2014/main" xmlns="" id="{014EC7C2-B0AB-4FFC-9AC4-5ABC4B8113AB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DO4</a:t>
            </a:r>
          </a:p>
        </p:txBody>
      </p:sp>
      <p:sp>
        <p:nvSpPr>
          <p:cNvPr id="18" name="do-cross-3">
            <a:extLst>
              <a:ext uri="{FF2B5EF4-FFF2-40B4-BE49-F238E27FC236}">
                <a16:creationId xmlns:a16="http://schemas.microsoft.com/office/drawing/2014/main" xmlns="" id="{6DEF5874-BAF4-48B3-AAF4-539A852D16F0}"/>
              </a:ext>
            </a:extLst>
          </p:cNvPr>
          <p:cNvSpPr>
            <a:spLocks noGrp="1"/>
          </p:cNvSpPr>
          <p:nvPr/>
        </p:nvSpPr>
        <p:spPr>
          <a:xfrm>
            <a:off x="1543050" y="54768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W5 + O6</a:t>
            </a:r>
          </a:p>
        </p:txBody>
      </p:sp>
      <p:sp>
        <p:nvSpPr>
          <p:cNvPr id="19" name="do-text-3">
            <a:extLst>
              <a:ext uri="{FF2B5EF4-FFF2-40B4-BE49-F238E27FC236}">
                <a16:creationId xmlns:a16="http://schemas.microsoft.com/office/drawing/2014/main" xmlns="" id="{7BB8D0E2-DE05-4377-899B-07B720BE33BE}"/>
              </a:ext>
            </a:extLst>
          </p:cNvPr>
          <p:cNvSpPr>
            <a:spLocks noGrp="1"/>
          </p:cNvSpPr>
          <p:nvPr/>
        </p:nvSpPr>
        <p:spPr>
          <a:xfrm>
            <a:off x="1543050" y="5734050"/>
            <a:ext cx="4152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Usar automação e documentação para ampliar a capacidade da equipe.</a:t>
            </a:r>
          </a:p>
        </p:txBody>
      </p:sp>
      <p:sp>
        <p:nvSpPr>
          <p:cNvPr id="20" name="do-da-divider">
            <a:extLst>
              <a:ext uri="{FF2B5EF4-FFF2-40B4-BE49-F238E27FC236}">
                <a16:creationId xmlns:a16="http://schemas.microsoft.com/office/drawing/2014/main" xmlns="" id="{B11FB66F-0680-45CD-9895-6E68DE2E5918}"/>
              </a:ext>
            </a:extLst>
          </p:cNvPr>
          <p:cNvSpPr>
            <a:spLocks noGrp="1"/>
          </p:cNvSpPr>
          <p:nvPr/>
        </p:nvSpPr>
        <p:spPr>
          <a:xfrm>
            <a:off x="5962650" y="1809750"/>
            <a:ext cx="19050" cy="4171950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21" name="da-title">
            <a:extLst>
              <a:ext uri="{FF2B5EF4-FFF2-40B4-BE49-F238E27FC236}">
                <a16:creationId xmlns:a16="http://schemas.microsoft.com/office/drawing/2014/main" xmlns="" id="{BB0817D1-6D0A-4835-BAEA-B52A46479078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9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DA  ·  Sobrevivência</a:t>
            </a:r>
          </a:p>
        </p:txBody>
      </p:sp>
      <p:sp>
        <p:nvSpPr>
          <p:cNvPr id="22" name="da-code-0">
            <a:extLst>
              <a:ext uri="{FF2B5EF4-FFF2-40B4-BE49-F238E27FC236}">
                <a16:creationId xmlns:a16="http://schemas.microsoft.com/office/drawing/2014/main" xmlns="" id="{D411105E-8E9C-4FF9-8A48-BF8ADE25554E}"/>
              </a:ext>
            </a:extLst>
          </p:cNvPr>
          <p:cNvSpPr>
            <a:spLocks noGrp="1"/>
          </p:cNvSpPr>
          <p:nvPr/>
        </p:nvSpPr>
        <p:spPr>
          <a:xfrm>
            <a:off x="6229350" y="237172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DA1</a:t>
            </a:r>
          </a:p>
        </p:txBody>
      </p:sp>
      <p:sp>
        <p:nvSpPr>
          <p:cNvPr id="23" name="da-cross-0">
            <a:extLst>
              <a:ext uri="{FF2B5EF4-FFF2-40B4-BE49-F238E27FC236}">
                <a16:creationId xmlns:a16="http://schemas.microsoft.com/office/drawing/2014/main" xmlns="" id="{4E651D8C-DFA2-4C4A-A21D-432FB5340AA9}"/>
              </a:ext>
            </a:extLst>
          </p:cNvPr>
          <p:cNvSpPr>
            <a:spLocks noGrp="1"/>
          </p:cNvSpPr>
          <p:nvPr/>
        </p:nvSpPr>
        <p:spPr>
          <a:xfrm>
            <a:off x="7086600" y="23907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W2 + W3 + T4</a:t>
            </a:r>
          </a:p>
        </p:txBody>
      </p:sp>
      <p:sp>
        <p:nvSpPr>
          <p:cNvPr id="24" name="da-text-0">
            <a:extLst>
              <a:ext uri="{FF2B5EF4-FFF2-40B4-BE49-F238E27FC236}">
                <a16:creationId xmlns:a16="http://schemas.microsoft.com/office/drawing/2014/main" xmlns="" id="{6EA4B14E-5B7B-4967-B93C-1765FCDEFC66}"/>
              </a:ext>
            </a:extLst>
          </p:cNvPr>
          <p:cNvSpPr>
            <a:spLocks noGrp="1"/>
          </p:cNvSpPr>
          <p:nvPr/>
        </p:nvSpPr>
        <p:spPr>
          <a:xfrm>
            <a:off x="7086600" y="2647950"/>
            <a:ext cx="4419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Evitar dependência rígida de um único provedor externo.</a:t>
            </a:r>
          </a:p>
        </p:txBody>
      </p:sp>
      <p:sp>
        <p:nvSpPr>
          <p:cNvPr id="25" name="da-line-0">
            <a:extLst>
              <a:ext uri="{FF2B5EF4-FFF2-40B4-BE49-F238E27FC236}">
                <a16:creationId xmlns:a16="http://schemas.microsoft.com/office/drawing/2014/main" xmlns="" id="{A5C5AECB-1653-499E-BFE7-B8170C3BEA5A}"/>
              </a:ext>
            </a:extLst>
          </p:cNvPr>
          <p:cNvSpPr>
            <a:spLocks noGrp="1"/>
          </p:cNvSpPr>
          <p:nvPr/>
        </p:nvSpPr>
        <p:spPr>
          <a:xfrm>
            <a:off x="6229350" y="3276600"/>
            <a:ext cx="527685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26" name="da-code-1">
            <a:extLst>
              <a:ext uri="{FF2B5EF4-FFF2-40B4-BE49-F238E27FC236}">
                <a16:creationId xmlns:a16="http://schemas.microsoft.com/office/drawing/2014/main" xmlns="" id="{928CAB7D-6ACF-441B-9B58-7D69F97308B4}"/>
              </a:ext>
            </a:extLst>
          </p:cNvPr>
          <p:cNvSpPr>
            <a:spLocks noGrp="1"/>
          </p:cNvSpPr>
          <p:nvPr/>
        </p:nvSpPr>
        <p:spPr>
          <a:xfrm>
            <a:off x="6229350" y="340042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DA2</a:t>
            </a:r>
          </a:p>
        </p:txBody>
      </p:sp>
      <p:sp>
        <p:nvSpPr>
          <p:cNvPr id="27" name="da-cross-1">
            <a:extLst>
              <a:ext uri="{FF2B5EF4-FFF2-40B4-BE49-F238E27FC236}">
                <a16:creationId xmlns:a16="http://schemas.microsoft.com/office/drawing/2014/main" xmlns="" id="{4287C332-7A1F-4804-8815-630D31D939AE}"/>
              </a:ext>
            </a:extLst>
          </p:cNvPr>
          <p:cNvSpPr>
            <a:spLocks noGrp="1"/>
          </p:cNvSpPr>
          <p:nvPr/>
        </p:nvSpPr>
        <p:spPr>
          <a:xfrm>
            <a:off x="7086600" y="34194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W1 + W6 + T1</a:t>
            </a:r>
          </a:p>
        </p:txBody>
      </p:sp>
      <p:sp>
        <p:nvSpPr>
          <p:cNvPr id="28" name="da-text-1">
            <a:extLst>
              <a:ext uri="{FF2B5EF4-FFF2-40B4-BE49-F238E27FC236}">
                <a16:creationId xmlns:a16="http://schemas.microsoft.com/office/drawing/2014/main" xmlns="" id="{4620627E-6E7E-4ECA-9806-EBD272F41036}"/>
              </a:ext>
            </a:extLst>
          </p:cNvPr>
          <p:cNvSpPr>
            <a:spLocks noGrp="1"/>
          </p:cNvSpPr>
          <p:nvPr/>
        </p:nvSpPr>
        <p:spPr>
          <a:xfrm>
            <a:off x="7086600" y="3676650"/>
            <a:ext cx="4419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Consolidar jornadas essenciais antes de iniciar módulos de baixa prioridade.</a:t>
            </a:r>
          </a:p>
        </p:txBody>
      </p:sp>
      <p:sp>
        <p:nvSpPr>
          <p:cNvPr id="29" name="da-line-1">
            <a:extLst>
              <a:ext uri="{FF2B5EF4-FFF2-40B4-BE49-F238E27FC236}">
                <a16:creationId xmlns:a16="http://schemas.microsoft.com/office/drawing/2014/main" xmlns="" id="{EC52E518-3F7A-47E5-A8B6-656A4A7EE80C}"/>
              </a:ext>
            </a:extLst>
          </p:cNvPr>
          <p:cNvSpPr>
            <a:spLocks noGrp="1"/>
          </p:cNvSpPr>
          <p:nvPr/>
        </p:nvSpPr>
        <p:spPr>
          <a:xfrm>
            <a:off x="6229350" y="4305300"/>
            <a:ext cx="527685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30" name="da-code-2">
            <a:extLst>
              <a:ext uri="{FF2B5EF4-FFF2-40B4-BE49-F238E27FC236}">
                <a16:creationId xmlns:a16="http://schemas.microsoft.com/office/drawing/2014/main" xmlns="" id="{35B340C1-2EA0-4D5A-BA46-87066D84DE94}"/>
              </a:ext>
            </a:extLst>
          </p:cNvPr>
          <p:cNvSpPr>
            <a:spLocks noGrp="1"/>
          </p:cNvSpPr>
          <p:nvPr/>
        </p:nvSpPr>
        <p:spPr>
          <a:xfrm>
            <a:off x="6229350" y="442912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DA3</a:t>
            </a:r>
          </a:p>
        </p:txBody>
      </p:sp>
      <p:sp>
        <p:nvSpPr>
          <p:cNvPr id="31" name="da-cross-2">
            <a:extLst>
              <a:ext uri="{FF2B5EF4-FFF2-40B4-BE49-F238E27FC236}">
                <a16:creationId xmlns:a16="http://schemas.microsoft.com/office/drawing/2014/main" xmlns="" id="{337501E6-34E6-408B-80D8-4FF825EC4803}"/>
              </a:ext>
            </a:extLst>
          </p:cNvPr>
          <p:cNvSpPr>
            <a:spLocks noGrp="1"/>
          </p:cNvSpPr>
          <p:nvPr/>
        </p:nvSpPr>
        <p:spPr>
          <a:xfrm>
            <a:off x="7086600" y="44481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W4 + T5</a:t>
            </a:r>
          </a:p>
        </p:txBody>
      </p:sp>
      <p:sp>
        <p:nvSpPr>
          <p:cNvPr id="32" name="da-text-2">
            <a:extLst>
              <a:ext uri="{FF2B5EF4-FFF2-40B4-BE49-F238E27FC236}">
                <a16:creationId xmlns:a16="http://schemas.microsoft.com/office/drawing/2014/main" xmlns="" id="{8EB5E1A7-6917-4348-AE02-1BFF3EEBC44C}"/>
              </a:ext>
            </a:extLst>
          </p:cNvPr>
          <p:cNvSpPr>
            <a:spLocks noGrp="1"/>
          </p:cNvSpPr>
          <p:nvPr/>
        </p:nvSpPr>
        <p:spPr>
          <a:xfrm>
            <a:off x="7086600" y="4705350"/>
            <a:ext cx="4419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Simplificar instalação, diagnóstico de API e onboarding.</a:t>
            </a:r>
          </a:p>
        </p:txBody>
      </p:sp>
      <p:sp>
        <p:nvSpPr>
          <p:cNvPr id="33" name="da-line-2">
            <a:extLst>
              <a:ext uri="{FF2B5EF4-FFF2-40B4-BE49-F238E27FC236}">
                <a16:creationId xmlns:a16="http://schemas.microsoft.com/office/drawing/2014/main" xmlns="" id="{E264FAFB-950E-4EF1-9AD2-21CC73666A25}"/>
              </a:ext>
            </a:extLst>
          </p:cNvPr>
          <p:cNvSpPr>
            <a:spLocks noGrp="1"/>
          </p:cNvSpPr>
          <p:nvPr/>
        </p:nvSpPr>
        <p:spPr>
          <a:xfrm>
            <a:off x="6229350" y="5334000"/>
            <a:ext cx="527685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34" name="da-code-3">
            <a:extLst>
              <a:ext uri="{FF2B5EF4-FFF2-40B4-BE49-F238E27FC236}">
                <a16:creationId xmlns:a16="http://schemas.microsoft.com/office/drawing/2014/main" xmlns="" id="{6023A489-0CB3-4D66-AD9F-AE24D795546D}"/>
              </a:ext>
            </a:extLst>
          </p:cNvPr>
          <p:cNvSpPr>
            <a:spLocks noGrp="1"/>
          </p:cNvSpPr>
          <p:nvPr/>
        </p:nvSpPr>
        <p:spPr>
          <a:xfrm>
            <a:off x="6229350" y="5457825"/>
            <a:ext cx="800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EF607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EF607A"/>
                </a:solidFill>
                <a:latin typeface="Calibri"/>
                <a:ea typeface="Calibri"/>
                <a:cs typeface="Calibri"/>
              </a:rPr>
              <a:t>DA4</a:t>
            </a:r>
          </a:p>
        </p:txBody>
      </p:sp>
      <p:sp>
        <p:nvSpPr>
          <p:cNvPr id="35" name="da-cross-3">
            <a:extLst>
              <a:ext uri="{FF2B5EF4-FFF2-40B4-BE49-F238E27FC236}">
                <a16:creationId xmlns:a16="http://schemas.microsoft.com/office/drawing/2014/main" xmlns="" id="{122054DA-C246-4DBE-9D77-C41AA0447010}"/>
              </a:ext>
            </a:extLst>
          </p:cNvPr>
          <p:cNvSpPr>
            <a:spLocks noGrp="1"/>
          </p:cNvSpPr>
          <p:nvPr/>
        </p:nvSpPr>
        <p:spPr>
          <a:xfrm>
            <a:off x="7086600" y="54768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W5 + T3 + T6</a:t>
            </a:r>
          </a:p>
        </p:txBody>
      </p:sp>
      <p:sp>
        <p:nvSpPr>
          <p:cNvPr id="36" name="da-text-3">
            <a:extLst>
              <a:ext uri="{FF2B5EF4-FFF2-40B4-BE49-F238E27FC236}">
                <a16:creationId xmlns:a16="http://schemas.microsoft.com/office/drawing/2014/main" xmlns="" id="{E700923C-B3D2-4A78-B771-524E2E7591F9}"/>
              </a:ext>
            </a:extLst>
          </p:cNvPr>
          <p:cNvSpPr>
            <a:spLocks noGrp="1"/>
          </p:cNvSpPr>
          <p:nvPr/>
        </p:nvSpPr>
        <p:spPr>
          <a:xfrm>
            <a:off x="7086600" y="5734050"/>
            <a:ext cx="4419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Distribuir conhecimento e formalizar backup, monitoramento e resposta a incidentes.</a:t>
            </a:r>
          </a:p>
        </p:txBody>
      </p:sp>
      <p:sp>
        <p:nvSpPr>
          <p:cNvPr id="37" name="footer-rule-8">
            <a:extLst>
              <a:ext uri="{FF2B5EF4-FFF2-40B4-BE49-F238E27FC236}">
                <a16:creationId xmlns:a16="http://schemas.microsoft.com/office/drawing/2014/main" xmlns="" id="{4F317040-71ED-4A76-A8F3-CF3489C806F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38" name="footer-brand-8">
            <a:extLst>
              <a:ext uri="{FF2B5EF4-FFF2-40B4-BE49-F238E27FC236}">
                <a16:creationId xmlns:a16="http://schemas.microsoft.com/office/drawing/2014/main" xmlns="" id="{76CA7DE0-1070-4BC5-BCDB-2EA17D9E88F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GESTORIA  ·  ANÁLISE DE AMBIENTES</a:t>
            </a:r>
          </a:p>
        </p:txBody>
      </p:sp>
      <p:sp>
        <p:nvSpPr>
          <p:cNvPr id="39" name="footer-page-8">
            <a:extLst>
              <a:ext uri="{FF2B5EF4-FFF2-40B4-BE49-F238E27FC236}">
                <a16:creationId xmlns:a16="http://schemas.microsoft.com/office/drawing/2014/main" xmlns="" id="{766C6508-4749-4FFA-AED6-966EB7C6EC10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lnSpc>
                <a:spcPct val="100000"/>
              </a:lnSpc>
              <a:buNone/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xmlns="" val="1892370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no de ação-eyebrow">
            <a:extLst>
              <a:ext uri="{FF2B5EF4-FFF2-40B4-BE49-F238E27FC236}">
                <a16:creationId xmlns:a16="http://schemas.microsoft.com/office/drawing/2014/main" xmlns="" id="{1BECE9E5-1036-4714-920B-D932D4690D4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PLANO DE AÇÃO</a:t>
            </a:r>
          </a:p>
        </p:txBody>
      </p:sp>
      <p:sp>
        <p:nvSpPr>
          <p:cNvPr id="2" name="plano de ação-title">
            <a:extLst>
              <a:ext uri="{FF2B5EF4-FFF2-40B4-BE49-F238E27FC236}">
                <a16:creationId xmlns:a16="http://schemas.microsoft.com/office/drawing/2014/main" xmlns="" id="{26DBC657-23EC-48A9-9C00-14CA2F4D9D9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3000" b="1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Prioridades e indicadores</a:t>
            </a:r>
          </a:p>
        </p:txBody>
      </p:sp>
      <p:sp>
        <p:nvSpPr>
          <p:cNvPr id="3" name="plano de ação-subtitle">
            <a:extLst>
              <a:ext uri="{FF2B5EF4-FFF2-40B4-BE49-F238E27FC236}">
                <a16:creationId xmlns:a16="http://schemas.microsoft.com/office/drawing/2014/main" xmlns="" id="{7E188E40-50B3-40AB-8121-69675975E79F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261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26179"/>
                </a:solidFill>
                <a:latin typeface="Calibri"/>
                <a:ea typeface="Calibri"/>
                <a:cs typeface="Calibri"/>
              </a:rPr>
              <a:t>O avanço deve combinar entrega técnica, validação com clientes e preparação operacional.</a:t>
            </a:r>
          </a:p>
        </p:txBody>
      </p:sp>
      <p:sp>
        <p:nvSpPr>
          <p:cNvPr id="4" name="phase-label-0">
            <a:extLst>
              <a:ext uri="{FF2B5EF4-FFF2-40B4-BE49-F238E27FC236}">
                <a16:creationId xmlns:a16="http://schemas.microsoft.com/office/drawing/2014/main" xmlns="" id="{6E7CD5D4-CEBC-4156-A628-472DCACB7D4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2768F4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768F4"/>
                </a:solidFill>
                <a:latin typeface="Calibri"/>
                <a:ea typeface="Calibri"/>
                <a:cs typeface="Calibri"/>
              </a:rPr>
              <a:t>CURTO PRAZO</a:t>
            </a:r>
          </a:p>
        </p:txBody>
      </p:sp>
      <p:sp>
        <p:nvSpPr>
          <p:cNvPr id="5" name="phase-text-0">
            <a:extLst>
              <a:ext uri="{FF2B5EF4-FFF2-40B4-BE49-F238E27FC236}">
                <a16:creationId xmlns:a16="http://schemas.microsoft.com/office/drawing/2014/main" xmlns="" id="{EC0DEE40-36AE-4582-9FD4-5405004DADF4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76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3000"/>
              </a:lnSpc>
              <a:buNone/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Integrar Produtos com segurança, validar Financeiro e Produtos em diferentes telas e manter testes obrigatórios.</a:t>
            </a:r>
          </a:p>
        </p:txBody>
      </p:sp>
      <p:sp>
        <p:nvSpPr>
          <p:cNvPr id="6" name="phase-line-0">
            <a:extLst>
              <a:ext uri="{FF2B5EF4-FFF2-40B4-BE49-F238E27FC236}">
                <a16:creationId xmlns:a16="http://schemas.microsoft.com/office/drawing/2014/main" xmlns="" id="{AB9FB88D-A581-4D5B-B240-D04D49EA2A2F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476250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7" name="phase-label-1">
            <a:extLst>
              <a:ext uri="{FF2B5EF4-FFF2-40B4-BE49-F238E27FC236}">
                <a16:creationId xmlns:a16="http://schemas.microsoft.com/office/drawing/2014/main" xmlns="" id="{A08CD128-7853-4048-87D8-A68EB8F59762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MÉDIO PRAZO</a:t>
            </a:r>
          </a:p>
        </p:txBody>
      </p:sp>
      <p:sp>
        <p:nvSpPr>
          <p:cNvPr id="8" name="phase-text-1">
            <a:extLst>
              <a:ext uri="{FF2B5EF4-FFF2-40B4-BE49-F238E27FC236}">
                <a16:creationId xmlns:a16="http://schemas.microsoft.com/office/drawing/2014/main" xmlns="" id="{B4BB9253-96C0-489D-918B-62895E10016E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476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3000"/>
              </a:lnSpc>
              <a:buNone/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Levar clientes, orçamentos e produção/estoque ao mobile. Executar pilotos com três a cinco pequenos negócios.</a:t>
            </a:r>
          </a:p>
        </p:txBody>
      </p:sp>
      <p:sp>
        <p:nvSpPr>
          <p:cNvPr id="9" name="phase-line-1">
            <a:extLst>
              <a:ext uri="{FF2B5EF4-FFF2-40B4-BE49-F238E27FC236}">
                <a16:creationId xmlns:a16="http://schemas.microsoft.com/office/drawing/2014/main" xmlns="" id="{37D6E59A-FF3B-4F3D-893D-2D60ECED4DB7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476250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10" name="phase-label-2">
            <a:extLst>
              <a:ext uri="{FF2B5EF4-FFF2-40B4-BE49-F238E27FC236}">
                <a16:creationId xmlns:a16="http://schemas.microsoft.com/office/drawing/2014/main" xmlns="" id="{83C0402C-D7E0-4E8F-A777-453B062844FF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050" b="1">
                <a:solidFill>
                  <a:srgbClr val="20BF8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0BF82"/>
                </a:solidFill>
                <a:latin typeface="Calibri"/>
                <a:ea typeface="Calibri"/>
                <a:cs typeface="Calibri"/>
              </a:rPr>
              <a:t>ANTES DA VENDA</a:t>
            </a:r>
          </a:p>
        </p:txBody>
      </p:sp>
      <p:sp>
        <p:nvSpPr>
          <p:cNvPr id="11" name="phase-text-2">
            <a:extLst>
              <a:ext uri="{FF2B5EF4-FFF2-40B4-BE49-F238E27FC236}">
                <a16:creationId xmlns:a16="http://schemas.microsoft.com/office/drawing/2014/main" xmlns="" id="{2730B1F5-5252-4DF3-98C2-B0549C2824EC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476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3000"/>
              </a:lnSpc>
              <a:buNone/>
              <a:defRPr sz="1425" b="0">
                <a:solidFill>
                  <a:srgbClr val="0B162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B1628"/>
                </a:solidFill>
                <a:latin typeface="Calibri"/>
                <a:ea typeface="Calibri"/>
                <a:cs typeface="Calibri"/>
              </a:rPr>
              <a:t>Formalizar backup, monitoramento, privacidade, resposta a incidentes e simplificação da implantação.</a:t>
            </a:r>
          </a:p>
        </p:txBody>
      </p:sp>
      <p:sp>
        <p:nvSpPr>
          <p:cNvPr id="12" name="metrics-surface">
            <a:extLst>
              <a:ext uri="{FF2B5EF4-FFF2-40B4-BE49-F238E27FC236}">
                <a16:creationId xmlns:a16="http://schemas.microsoft.com/office/drawing/2014/main" xmlns="" id="{A9ED8DD4-470E-4D0C-9252-7523EF811EB7}"/>
              </a:ext>
            </a:extLst>
          </p:cNvPr>
          <p:cNvSpPr>
            <a:spLocks noGrp="1"/>
          </p:cNvSpPr>
          <p:nvPr/>
        </p:nvSpPr>
        <p:spPr>
          <a:xfrm>
            <a:off x="6057900" y="1905000"/>
            <a:ext cx="5448300" cy="4000500"/>
          </a:xfrm>
          <a:prstGeom prst="roundRect">
            <a:avLst>
              <a:gd name="adj" fmla="val 2857"/>
            </a:avLst>
          </a:prstGeom>
          <a:solidFill>
            <a:srgbClr val="06162B"/>
          </a:solidFill>
          <a:ln w="0">
            <a:noFill/>
            <a:prstDash val="solid"/>
          </a:ln>
        </p:spPr>
      </p:sp>
      <p:sp>
        <p:nvSpPr>
          <p:cNvPr id="13" name="metrics-title">
            <a:extLst>
              <a:ext uri="{FF2B5EF4-FFF2-40B4-BE49-F238E27FC236}">
                <a16:creationId xmlns:a16="http://schemas.microsoft.com/office/drawing/2014/main" xmlns="" id="{488A6644-B634-40FC-9E99-09E3B6AF78C9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Indicadores de acompanhamento</a:t>
            </a:r>
          </a:p>
        </p:txBody>
      </p:sp>
      <p:sp>
        <p:nvSpPr>
          <p:cNvPr id="14" name="metric-number-0">
            <a:extLst>
              <a:ext uri="{FF2B5EF4-FFF2-40B4-BE49-F238E27FC236}">
                <a16:creationId xmlns:a16="http://schemas.microsoft.com/office/drawing/2014/main" xmlns="" id="{D185D57D-B938-44AC-B8AC-5AC64F1B447E}"/>
              </a:ext>
            </a:extLst>
          </p:cNvPr>
          <p:cNvSpPr>
            <a:spLocks noGrp="1"/>
          </p:cNvSpPr>
          <p:nvPr/>
        </p:nvSpPr>
        <p:spPr>
          <a:xfrm>
            <a:off x="6362700" y="28384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5" name="metric-text-0">
            <a:extLst>
              <a:ext uri="{FF2B5EF4-FFF2-40B4-BE49-F238E27FC236}">
                <a16:creationId xmlns:a16="http://schemas.microsoft.com/office/drawing/2014/main" xmlns="" id="{C04B19D7-9926-4924-A36F-6A0C6A3B46FB}"/>
              </a:ext>
            </a:extLst>
          </p:cNvPr>
          <p:cNvSpPr>
            <a:spLocks noGrp="1"/>
          </p:cNvSpPr>
          <p:nvPr/>
        </p:nvSpPr>
        <p:spPr>
          <a:xfrm>
            <a:off x="6896100" y="2838450"/>
            <a:ext cx="413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5DFEC"/>
                </a:solidFill>
                <a:latin typeface="Calibri"/>
                <a:ea typeface="Calibri"/>
                <a:cs typeface="Calibri"/>
              </a:rPr>
              <a:t>Jornadas completas em web e mobile</a:t>
            </a:r>
          </a:p>
        </p:txBody>
      </p:sp>
      <p:sp>
        <p:nvSpPr>
          <p:cNvPr id="16" name="metric-line-0">
            <a:extLst>
              <a:ext uri="{FF2B5EF4-FFF2-40B4-BE49-F238E27FC236}">
                <a16:creationId xmlns:a16="http://schemas.microsoft.com/office/drawing/2014/main" xmlns="" id="{5065C081-4089-43C0-BC4C-9BC2284201B9}"/>
              </a:ext>
            </a:extLst>
          </p:cNvPr>
          <p:cNvSpPr>
            <a:spLocks noGrp="1"/>
          </p:cNvSpPr>
          <p:nvPr/>
        </p:nvSpPr>
        <p:spPr>
          <a:xfrm>
            <a:off x="6362700" y="3257550"/>
            <a:ext cx="4667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7" name="metric-number-1">
            <a:extLst>
              <a:ext uri="{FF2B5EF4-FFF2-40B4-BE49-F238E27FC236}">
                <a16:creationId xmlns:a16="http://schemas.microsoft.com/office/drawing/2014/main" xmlns="" id="{B9D0E48F-A761-4572-B85F-F11AB6ADAD67}"/>
              </a:ext>
            </a:extLst>
          </p:cNvPr>
          <p:cNvSpPr>
            <a:spLocks noGrp="1"/>
          </p:cNvSpPr>
          <p:nvPr/>
        </p:nvSpPr>
        <p:spPr>
          <a:xfrm>
            <a:off x="6362700" y="33909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metric-text-1">
            <a:extLst>
              <a:ext uri="{FF2B5EF4-FFF2-40B4-BE49-F238E27FC236}">
                <a16:creationId xmlns:a16="http://schemas.microsoft.com/office/drawing/2014/main" xmlns="" id="{590E44BE-1BBD-4643-9D9F-667D41E20D68}"/>
              </a:ext>
            </a:extLst>
          </p:cNvPr>
          <p:cNvSpPr>
            <a:spLocks noGrp="1"/>
          </p:cNvSpPr>
          <p:nvPr/>
        </p:nvSpPr>
        <p:spPr>
          <a:xfrm>
            <a:off x="6896100" y="3390900"/>
            <a:ext cx="413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5DFEC"/>
                </a:solidFill>
                <a:latin typeface="Calibri"/>
                <a:ea typeface="Calibri"/>
                <a:cs typeface="Calibri"/>
              </a:rPr>
              <a:t>Taxa de aprovação dos testes e regressões</a:t>
            </a:r>
          </a:p>
        </p:txBody>
      </p:sp>
      <p:sp>
        <p:nvSpPr>
          <p:cNvPr id="19" name="metric-line-1">
            <a:extLst>
              <a:ext uri="{FF2B5EF4-FFF2-40B4-BE49-F238E27FC236}">
                <a16:creationId xmlns:a16="http://schemas.microsoft.com/office/drawing/2014/main" xmlns="" id="{46A83FD7-095D-441A-81EB-0C43B3483A23}"/>
              </a:ext>
            </a:extLst>
          </p:cNvPr>
          <p:cNvSpPr>
            <a:spLocks noGrp="1"/>
          </p:cNvSpPr>
          <p:nvPr/>
        </p:nvSpPr>
        <p:spPr>
          <a:xfrm>
            <a:off x="6362700" y="3810000"/>
            <a:ext cx="4667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20" name="metric-number-2">
            <a:extLst>
              <a:ext uri="{FF2B5EF4-FFF2-40B4-BE49-F238E27FC236}">
                <a16:creationId xmlns:a16="http://schemas.microsoft.com/office/drawing/2014/main" xmlns="" id="{EE4146F8-5B59-4C98-AE9E-723B5441A5AB}"/>
              </a:ext>
            </a:extLst>
          </p:cNvPr>
          <p:cNvSpPr>
            <a:spLocks noGrp="1"/>
          </p:cNvSpPr>
          <p:nvPr/>
        </p:nvSpPr>
        <p:spPr>
          <a:xfrm>
            <a:off x="6362700" y="39433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1" name="metric-text-2">
            <a:extLst>
              <a:ext uri="{FF2B5EF4-FFF2-40B4-BE49-F238E27FC236}">
                <a16:creationId xmlns:a16="http://schemas.microsoft.com/office/drawing/2014/main" xmlns="" id="{BC3864C5-FC88-4ADD-B184-D785242078D3}"/>
              </a:ext>
            </a:extLst>
          </p:cNvPr>
          <p:cNvSpPr>
            <a:spLocks noGrp="1"/>
          </p:cNvSpPr>
          <p:nvPr/>
        </p:nvSpPr>
        <p:spPr>
          <a:xfrm>
            <a:off x="6896100" y="3943350"/>
            <a:ext cx="413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5DFEC"/>
                </a:solidFill>
                <a:latin typeface="Calibri"/>
                <a:ea typeface="Calibri"/>
                <a:cs typeface="Calibri"/>
              </a:rPr>
              <a:t>Pilotos ativos, satisfação e retenção</a:t>
            </a:r>
          </a:p>
        </p:txBody>
      </p:sp>
      <p:sp>
        <p:nvSpPr>
          <p:cNvPr id="22" name="metric-line-2">
            <a:extLst>
              <a:ext uri="{FF2B5EF4-FFF2-40B4-BE49-F238E27FC236}">
                <a16:creationId xmlns:a16="http://schemas.microsoft.com/office/drawing/2014/main" xmlns="" id="{B6B0F361-9A43-42CD-85DB-24AAD38DA868}"/>
              </a:ext>
            </a:extLst>
          </p:cNvPr>
          <p:cNvSpPr>
            <a:spLocks noGrp="1"/>
          </p:cNvSpPr>
          <p:nvPr/>
        </p:nvSpPr>
        <p:spPr>
          <a:xfrm>
            <a:off x="6362700" y="4362450"/>
            <a:ext cx="4667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23" name="metric-number-3">
            <a:extLst>
              <a:ext uri="{FF2B5EF4-FFF2-40B4-BE49-F238E27FC236}">
                <a16:creationId xmlns:a16="http://schemas.microsoft.com/office/drawing/2014/main" xmlns="" id="{B5024A1C-EEF7-4976-8EE4-3A9050B17F59}"/>
              </a:ext>
            </a:extLst>
          </p:cNvPr>
          <p:cNvSpPr>
            <a:spLocks noGrp="1"/>
          </p:cNvSpPr>
          <p:nvPr/>
        </p:nvSpPr>
        <p:spPr>
          <a:xfrm>
            <a:off x="6362700" y="44958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4" name="metric-text-3">
            <a:extLst>
              <a:ext uri="{FF2B5EF4-FFF2-40B4-BE49-F238E27FC236}">
                <a16:creationId xmlns:a16="http://schemas.microsoft.com/office/drawing/2014/main" xmlns="" id="{7480E92F-B2B0-4879-BCE4-D5C037561E0E}"/>
              </a:ext>
            </a:extLst>
          </p:cNvPr>
          <p:cNvSpPr>
            <a:spLocks noGrp="1"/>
          </p:cNvSpPr>
          <p:nvPr/>
        </p:nvSpPr>
        <p:spPr>
          <a:xfrm>
            <a:off x="6896100" y="4495800"/>
            <a:ext cx="413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5DFEC"/>
                </a:solidFill>
                <a:latin typeface="Calibri"/>
                <a:ea typeface="Calibri"/>
                <a:cs typeface="Calibri"/>
              </a:rPr>
              <a:t>Conversão por plano e receita recorrente</a:t>
            </a:r>
          </a:p>
        </p:txBody>
      </p:sp>
      <p:sp>
        <p:nvSpPr>
          <p:cNvPr id="25" name="metric-line-3">
            <a:extLst>
              <a:ext uri="{FF2B5EF4-FFF2-40B4-BE49-F238E27FC236}">
                <a16:creationId xmlns:a16="http://schemas.microsoft.com/office/drawing/2014/main" xmlns="" id="{6CDF6FFD-49E6-4E55-9FDF-B27167FE35C4}"/>
              </a:ext>
            </a:extLst>
          </p:cNvPr>
          <p:cNvSpPr>
            <a:spLocks noGrp="1"/>
          </p:cNvSpPr>
          <p:nvPr/>
        </p:nvSpPr>
        <p:spPr>
          <a:xfrm>
            <a:off x="6362700" y="4914900"/>
            <a:ext cx="46672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26" name="metric-number-4">
            <a:extLst>
              <a:ext uri="{FF2B5EF4-FFF2-40B4-BE49-F238E27FC236}">
                <a16:creationId xmlns:a16="http://schemas.microsoft.com/office/drawing/2014/main" xmlns="" id="{10A2AF2A-C4F6-4774-8295-18FE3A01B656}"/>
              </a:ext>
            </a:extLst>
          </p:cNvPr>
          <p:cNvSpPr>
            <a:spLocks noGrp="1"/>
          </p:cNvSpPr>
          <p:nvPr/>
        </p:nvSpPr>
        <p:spPr>
          <a:xfrm>
            <a:off x="6362700" y="50482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2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7" name="metric-text-4">
            <a:extLst>
              <a:ext uri="{FF2B5EF4-FFF2-40B4-BE49-F238E27FC236}">
                <a16:creationId xmlns:a16="http://schemas.microsoft.com/office/drawing/2014/main" xmlns="" id="{4886DD1D-3E3C-429D-A1E2-E33324D50611}"/>
              </a:ext>
            </a:extLst>
          </p:cNvPr>
          <p:cNvSpPr>
            <a:spLocks noGrp="1"/>
          </p:cNvSpPr>
          <p:nvPr/>
        </p:nvSpPr>
        <p:spPr>
          <a:xfrm>
            <a:off x="6896100" y="5048250"/>
            <a:ext cx="413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D5DFE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D5DFEC"/>
                </a:solidFill>
                <a:latin typeface="Calibri"/>
                <a:ea typeface="Calibri"/>
                <a:cs typeface="Calibri"/>
              </a:rPr>
              <a:t>Disponibilidade da API e tempo de implantação</a:t>
            </a:r>
          </a:p>
        </p:txBody>
      </p:sp>
      <p:sp>
        <p:nvSpPr>
          <p:cNvPr id="28" name="footer-rule-9">
            <a:extLst>
              <a:ext uri="{FF2B5EF4-FFF2-40B4-BE49-F238E27FC236}">
                <a16:creationId xmlns:a16="http://schemas.microsoft.com/office/drawing/2014/main" xmlns="" id="{752F0A3D-6170-4E49-A130-3DF15D2A08E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CE4F0"/>
          </a:solidFill>
          <a:ln w="0">
            <a:noFill/>
            <a:prstDash val="solid"/>
          </a:ln>
        </p:spPr>
      </p:sp>
      <p:sp>
        <p:nvSpPr>
          <p:cNvPr id="29" name="footer-brand-9">
            <a:extLst>
              <a:ext uri="{FF2B5EF4-FFF2-40B4-BE49-F238E27FC236}">
                <a16:creationId xmlns:a16="http://schemas.microsoft.com/office/drawing/2014/main" xmlns="" id="{7F0DA082-3A0E-40FA-B5DC-E60A9CB425A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900" b="1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GESTORIA  ·  ANÁLISE DE AMBIENTES</a:t>
            </a:r>
          </a:p>
        </p:txBody>
      </p:sp>
      <p:sp>
        <p:nvSpPr>
          <p:cNvPr id="30" name="footer-page-9">
            <a:extLst>
              <a:ext uri="{FF2B5EF4-FFF2-40B4-BE49-F238E27FC236}">
                <a16:creationId xmlns:a16="http://schemas.microsoft.com/office/drawing/2014/main" xmlns="" id="{67D69973-F96B-4AD9-ABA7-16D8D517BA3D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lnSpc>
                <a:spcPct val="100000"/>
              </a:lnSpc>
              <a:buNone/>
              <a:defRPr sz="900" b="0">
                <a:solidFill>
                  <a:srgbClr val="7A879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7A879B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xmlns="" val="53891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clusão-eyebrow">
            <a:extLst>
              <a:ext uri="{FF2B5EF4-FFF2-40B4-BE49-F238E27FC236}">
                <a16:creationId xmlns:a16="http://schemas.microsoft.com/office/drawing/2014/main" xmlns="" id="{F9BCE34B-E2F0-496B-81C2-79D56703D68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125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CONCLUSÃO</a:t>
            </a:r>
          </a:p>
        </p:txBody>
      </p:sp>
      <p:sp>
        <p:nvSpPr>
          <p:cNvPr id="2" name="conclusão-title">
            <a:extLst>
              <a:ext uri="{FF2B5EF4-FFF2-40B4-BE49-F238E27FC236}">
                <a16:creationId xmlns:a16="http://schemas.microsoft.com/office/drawing/2014/main" xmlns="" id="{7D0DF94E-8F63-4A3F-BB02-58C0C63CBEA4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prioridade agora é validar valor</a:t>
            </a:r>
          </a:p>
        </p:txBody>
      </p:sp>
      <p:sp>
        <p:nvSpPr>
          <p:cNvPr id="3" name="conclusão-subtitle">
            <a:extLst>
              <a:ext uri="{FF2B5EF4-FFF2-40B4-BE49-F238E27FC236}">
                <a16:creationId xmlns:a16="http://schemas.microsoft.com/office/drawing/2014/main" xmlns="" id="{7420F360-2241-4418-918C-733FA6B134EF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B9C8D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B9C8DC"/>
                </a:solidFill>
                <a:latin typeface="Calibri"/>
                <a:ea typeface="Calibri"/>
                <a:cs typeface="Calibri"/>
              </a:rPr>
              <a:t>A base técnica já existe. O próximo ciclo precisa transformar implementação em evidência de mercado.</a:t>
            </a:r>
          </a:p>
        </p:txBody>
      </p:sp>
      <p:sp>
        <p:nvSpPr>
          <p:cNvPr id="4" name="conclusion-number-0">
            <a:extLst>
              <a:ext uri="{FF2B5EF4-FFF2-40B4-BE49-F238E27FC236}">
                <a16:creationId xmlns:a16="http://schemas.microsoft.com/office/drawing/2014/main" xmlns="" id="{A24CDCA0-053E-4B66-801C-1D2FA5AC9995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conclusion-title-0">
            <a:extLst>
              <a:ext uri="{FF2B5EF4-FFF2-40B4-BE49-F238E27FC236}">
                <a16:creationId xmlns:a16="http://schemas.microsoft.com/office/drawing/2014/main" xmlns="" id="{4A996294-3B6A-4DC3-86C9-3B0359D72689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Consolidar jornadas</a:t>
            </a:r>
          </a:p>
        </p:txBody>
      </p:sp>
      <p:sp>
        <p:nvSpPr>
          <p:cNvPr id="6" name="conclusion-body-0">
            <a:extLst>
              <a:ext uri="{FF2B5EF4-FFF2-40B4-BE49-F238E27FC236}">
                <a16:creationId xmlns:a16="http://schemas.microsoft.com/office/drawing/2014/main" xmlns="" id="{E08348D6-9E58-4811-ACD9-5D524D67A542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3143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D9E9"/>
                </a:solidFill>
                <a:latin typeface="Calibri"/>
                <a:ea typeface="Calibri"/>
                <a:cs typeface="Calibri"/>
              </a:rPr>
              <a:t>Financeiro e Produtos confirmam a evolução do mobile. Clientes, orçamentos e produção formam a próxima frente.</a:t>
            </a:r>
          </a:p>
        </p:txBody>
      </p:sp>
      <p:sp>
        <p:nvSpPr>
          <p:cNvPr id="7" name="conclusion-number-1">
            <a:extLst>
              <a:ext uri="{FF2B5EF4-FFF2-40B4-BE49-F238E27FC236}">
                <a16:creationId xmlns:a16="http://schemas.microsoft.com/office/drawing/2014/main" xmlns="" id="{03B2E068-15DA-4985-90FB-03B7AF68F882}"/>
              </a:ext>
            </a:extLst>
          </p:cNvPr>
          <p:cNvSpPr>
            <a:spLocks noGrp="1"/>
          </p:cNvSpPr>
          <p:nvPr/>
        </p:nvSpPr>
        <p:spPr>
          <a:xfrm>
            <a:off x="4286250" y="2171700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conclusion-title-1">
            <a:extLst>
              <a:ext uri="{FF2B5EF4-FFF2-40B4-BE49-F238E27FC236}">
                <a16:creationId xmlns:a16="http://schemas.microsoft.com/office/drawing/2014/main" xmlns="" id="{8FD0D7C5-9F30-42F5-9C70-82FCB2262EB9}"/>
              </a:ext>
            </a:extLst>
          </p:cNvPr>
          <p:cNvSpPr>
            <a:spLocks noGrp="1"/>
          </p:cNvSpPr>
          <p:nvPr/>
        </p:nvSpPr>
        <p:spPr>
          <a:xfrm>
            <a:off x="4286250" y="27622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Reduzir atrito</a:t>
            </a:r>
          </a:p>
        </p:txBody>
      </p:sp>
      <p:sp>
        <p:nvSpPr>
          <p:cNvPr id="9" name="conclusion-body-1">
            <a:extLst>
              <a:ext uri="{FF2B5EF4-FFF2-40B4-BE49-F238E27FC236}">
                <a16:creationId xmlns:a16="http://schemas.microsoft.com/office/drawing/2014/main" xmlns="" id="{3DAC05A7-4E70-445E-B881-D9F502A571B4}"/>
              </a:ext>
            </a:extLst>
          </p:cNvPr>
          <p:cNvSpPr>
            <a:spLocks noGrp="1"/>
          </p:cNvSpPr>
          <p:nvPr/>
        </p:nvSpPr>
        <p:spPr>
          <a:xfrm>
            <a:off x="4286250" y="3276600"/>
            <a:ext cx="3143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D9E9"/>
                </a:solidFill>
                <a:latin typeface="Calibri"/>
                <a:ea typeface="Calibri"/>
                <a:cs typeface="Calibri"/>
              </a:rPr>
              <a:t>Configuração, conectividade, implantação e onboarding precisam funcionar sem dependência constante da equipe técnica.</a:t>
            </a:r>
          </a:p>
        </p:txBody>
      </p:sp>
      <p:sp>
        <p:nvSpPr>
          <p:cNvPr id="10" name="conclusion-number-2">
            <a:extLst>
              <a:ext uri="{FF2B5EF4-FFF2-40B4-BE49-F238E27FC236}">
                <a16:creationId xmlns:a16="http://schemas.microsoft.com/office/drawing/2014/main" xmlns="" id="{AF97E8B9-6E2B-4272-A206-6DAA281C5018}"/>
              </a:ext>
            </a:extLst>
          </p:cNvPr>
          <p:cNvSpPr>
            <a:spLocks noGrp="1"/>
          </p:cNvSpPr>
          <p:nvPr/>
        </p:nvSpPr>
        <p:spPr>
          <a:xfrm>
            <a:off x="7886700" y="2171700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25BED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5BED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1" name="conclusion-title-2">
            <a:extLst>
              <a:ext uri="{FF2B5EF4-FFF2-40B4-BE49-F238E27FC236}">
                <a16:creationId xmlns:a16="http://schemas.microsoft.com/office/drawing/2014/main" xmlns="" id="{60B783E5-6A56-4EAD-B5E4-6F98A317611A}"/>
              </a:ext>
            </a:extLst>
          </p:cNvPr>
          <p:cNvSpPr>
            <a:spLocks noGrp="1"/>
          </p:cNvSpPr>
          <p:nvPr/>
        </p:nvSpPr>
        <p:spPr>
          <a:xfrm>
            <a:off x="7886700" y="27622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Validar o negócio</a:t>
            </a:r>
          </a:p>
        </p:txBody>
      </p:sp>
      <p:sp>
        <p:nvSpPr>
          <p:cNvPr id="12" name="conclusion-body-2">
            <a:extLst>
              <a:ext uri="{FF2B5EF4-FFF2-40B4-BE49-F238E27FC236}">
                <a16:creationId xmlns:a16="http://schemas.microsoft.com/office/drawing/2014/main" xmlns="" id="{349C906B-4564-45E2-8B3E-F6ABCC9D88E0}"/>
              </a:ext>
            </a:extLst>
          </p:cNvPr>
          <p:cNvSpPr>
            <a:spLocks noGrp="1"/>
          </p:cNvSpPr>
          <p:nvPr/>
        </p:nvSpPr>
        <p:spPr>
          <a:xfrm>
            <a:off x="7886700" y="3276600"/>
            <a:ext cx="3143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CFD9E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D9E9"/>
                </a:solidFill>
                <a:latin typeface="Calibri"/>
                <a:ea typeface="Calibri"/>
                <a:cs typeface="Calibri"/>
              </a:rPr>
              <a:t>Pilotos reais devem confirmar problema, frequência de uso, preço e disposição de pagamento antes da expansão do escopo.</a:t>
            </a:r>
          </a:p>
        </p:txBody>
      </p:sp>
      <p:sp>
        <p:nvSpPr>
          <p:cNvPr id="13" name="conclusion-strip">
            <a:extLst>
              <a:ext uri="{FF2B5EF4-FFF2-40B4-BE49-F238E27FC236}">
                <a16:creationId xmlns:a16="http://schemas.microsoft.com/office/drawing/2014/main" xmlns="" id="{73406C18-B07C-49CF-ABC4-F96CB819DD57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0820400" cy="781050"/>
          </a:xfrm>
          <a:prstGeom prst="roundRect">
            <a:avLst>
              <a:gd name="adj" fmla="val 1463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conclusion-strip-text">
            <a:extLst>
              <a:ext uri="{FF2B5EF4-FFF2-40B4-BE49-F238E27FC236}">
                <a16:creationId xmlns:a16="http://schemas.microsoft.com/office/drawing/2014/main" xmlns="" id="{6A380AF2-C8D7-48BD-8515-F57C7E5F7B9D}"/>
              </a:ext>
            </a:extLst>
          </p:cNvPr>
          <p:cNvSpPr>
            <a:spLocks noGrp="1"/>
          </p:cNvSpPr>
          <p:nvPr/>
        </p:nvSpPr>
        <p:spPr>
          <a:xfrm>
            <a:off x="952500" y="546735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Direção: </a:t>
            </a: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crescer com foco, segurança e validação contínua com pequenos negócios.</a:t>
            </a:r>
          </a:p>
        </p:txBody>
      </p:sp>
      <p:sp>
        <p:nvSpPr>
          <p:cNvPr id="15" name="footer-rule-10">
            <a:extLst>
              <a:ext uri="{FF2B5EF4-FFF2-40B4-BE49-F238E27FC236}">
                <a16:creationId xmlns:a16="http://schemas.microsoft.com/office/drawing/2014/main" xmlns="" id="{D488E6B8-CD2B-4626-87C9-E6FFE9BB6F1D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 w="0">
            <a:noFill/>
            <a:prstDash val="solid"/>
          </a:ln>
        </p:spPr>
      </p:sp>
      <p:sp>
        <p:nvSpPr>
          <p:cNvPr id="16" name="footer-brand-10">
            <a:extLst>
              <a:ext uri="{FF2B5EF4-FFF2-40B4-BE49-F238E27FC236}">
                <a16:creationId xmlns:a16="http://schemas.microsoft.com/office/drawing/2014/main" xmlns="" id="{8B7EDBDC-08AB-4F1C-9711-06BE5829694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defPPr>
            <a:lvl1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lnSpc>
                <a:spcPct val="100000"/>
              </a:lnSpc>
              <a:buNone/>
              <a:defRPr sz="900" b="1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8FA2BC"/>
                </a:solidFill>
                <a:latin typeface="Calibri"/>
                <a:ea typeface="Calibri"/>
                <a:cs typeface="Calibri"/>
              </a:rPr>
              <a:t>GESTORIA  ·  ANÁLISE DE AMBIENTES</a:t>
            </a:r>
          </a:p>
        </p:txBody>
      </p:sp>
      <p:sp>
        <p:nvSpPr>
          <p:cNvPr id="17" name="footer-page-10">
            <a:extLst>
              <a:ext uri="{FF2B5EF4-FFF2-40B4-BE49-F238E27FC236}">
                <a16:creationId xmlns:a16="http://schemas.microsoft.com/office/drawing/2014/main" xmlns="" id="{AE6FB425-32B0-419B-9861-26EA9CE877B4}"/>
              </a:ext>
            </a:extLst>
          </p:cNvPr>
          <p:cNvSpPr>
            <a:spLocks noGrp="1"/>
          </p:cNvSpPr>
          <p:nvPr/>
        </p:nvSpPr>
        <p:spPr>
          <a:xfrm>
            <a:off x="11087100" y="65532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defPPr>
            <a:lvl1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1pPr>
            <a:lvl2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2pPr>
            <a:lvl3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3pPr>
            <a:lvl4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4pPr>
            <a:lvl5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5pPr>
            <a:lvl6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6pPr>
            <a:lvl7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7pPr>
            <a:lvl8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8pPr>
            <a:lvl9pPr algn="r"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lnSpc>
                <a:spcPct val="100000"/>
              </a:lnSpc>
              <a:buNone/>
              <a:defRPr sz="900" b="0">
                <a:solidFill>
                  <a:srgbClr val="8FA2BC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8FA2B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xmlns="" val="17754258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1473</Words>
  <Application>Walnut Exporter</Application>
  <DocSecurity>0</DocSecurity>
  <PresentationFormat>Personalizar</PresentationFormat>
  <Paragraphs>233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ChatGPT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avance desenv</cp:lastModifiedBy>
  <cp:revision>1</cp:revision>
  <dcterms:created xsi:type="dcterms:W3CDTF">2026-10-23T18:20:29Z</dcterms:created>
  <dcterms:modified xsi:type="dcterms:W3CDTF">2026-10-23T18:23:19Z</dcterms:modified>
</cp:coreProperties>
</file>